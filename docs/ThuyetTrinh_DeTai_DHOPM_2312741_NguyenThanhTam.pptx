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Kính chào Thầy Cô và các bạn. Hôm nay em xin phép báo cáo đề tài đồ án môn học Lập trình Java Nâng cao: 'Nghiên cứu, Cài đặt và Trực quan hóa Thuật toán Khai phá Mẫu Độ Chiếm Dụng Cao trên Luồng Dữ liệu (DHOPM)'. Đề tài của em được nghiên cứu và hiện thực hóa dựa trên bài báo khoa học quốc tế mới nhất công bố trên tạp chí Engineering Applications of Artificial Intelligence năm 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Đầu tiên là động lực nghiên cứu. Trong khai phá dữ liệu giỏ hàng, thuật toán FIM truyền thống chỉ đếm số lần xuất hiện mà bỏ qua độ dài giỏ hàng. Mẫu {Bánh mì, Sữa} trong giỏ 100 món hàng ngẫu nhiên vẫn được đếm 1 điểm bằng với giỏ 2 món. Độ chiếm dụng Occupancy O(X, Td) = |X|/|Td| giải quyết việc này bằng cách đo tỷ lệ phần trăm giỏ hàng. Đặc biệt khi đưa lên luồng dữ liệu, dữ liệu đến liên tục và giá trị cũ mất dần theo thời gian, đòi hỏi thuật toán phải đáp ứng chuẩn One-Scan và cơ chế cửa sổ suy giảm.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Bài báo EAAI 2026 đưa ra 3 đóng góp lớn: Thứ nhất, mô hình Damped Window với hàm mũ f^(TL-Td) giúp dữ liệu cũ dần mất giá trị theo thời gian. Thứ hai, vì Occupancy không có tính chất phản đơn điệu (thêm item có thể làm tăng độ chiếm dụng) nên bài báo đề xuất cận trên DUBO để cắt tỉa an toàn toàn bộ các nhánh con không thể đạt chuẩn. Thứ ba là cấu trúc Global DHO-List lưu cặp &lt;TID, TLen&gt; giúp cập nhật luồng một lần quét cực kỳ tiết kiệm bộ nhớ.</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Ở slide này ta thấy rõ sức mạnh của hệ số suy giảm f. Khi f = 1.0 tức là không suy giảm, hệ thống tìm ra 9 mẫu DHOP kể cả các mẫu từ các giao dịch T1, T3 rất xa trong quá khứ. Nhưng khi kéo f về 0.9, giá trị của các giao dịch cũ bị giảm đi (ví dụ T1 chỉ còn 47.8% giá trị), kết quả rút gọn chỉ còn đúng 2 mẫu hot nhất gần đây là AE và F. Điều này loại bỏ 77.8% mẫu rác lỗi thời!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Về mặt kỹ thuật lập trình Java nâng cao, đây là điểm sáng lớn nhất của đề tài. Em và bạn Sơn áp dụng nguyên lý DIP và Monorepo phân tách rạch ròi: Sơn làm module dhopm-v1-standard, em làm dhopm-visualizer, cả hai chỉ giao tiếp qua hợp đồng dhopm-common. Nhờ Bridge Pattern và Strategy Pattern, UI có thể cắm bất kỳ engine nào vào chạy mà không phải sửa dù chỉ 1 dòng code giao diện.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Giao diện JavaFX gồm 3 tab đầu tiên phục vụ trực quan hóa: Tab 1 hiển thị các thẻ DHO-List đổi màu theo trạng thái (xanh là đạt DHOP, đỏ là bị cắt tỉa). Tab 2 hiển thị bảng 32 mẫu ứng viên trong cây DFS để kiểm tra chi tiết. Tab 3 là biểu đồ Live LineChart so sánh điểm DO của các item so với đường ngưỡng minSup màu đỏ.</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Ở Tab 4, em đã hoàn thành một nâng cấp quan trọng: Trước đây động cơ của Tson cần gõ lệnh terminal. Em đã biến 100% các câu lệnh đó thành nút bấm giao diện. Đặc biệt, em đã loại bỏ hoàn toàn màn hình console đen trắng vì bị lệch cột font chữ trên macOS, và thay bằng 3 bảng đồ họa JavaFX TableView native: Bảng mẫu khai phá, Bảng thống kê tệp dữ liệu, và Ma trận Golden Tests.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slide chứng minh tính đúng đắn của phần mềm. Toàn bộ 38 bài unit test đều vượt qua 100%. Ma trận 8 bộ testcases chính quy từ TC1 đến TC8 đều cho kết quả khớp hoàn hảo với bài báo, sai số tuyệt đối dưới 0.0001.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Ứng dụng đã sẵn sàng chạy trên các bộ dữ liệu lớn FIMI như chess, mushroom, retail. Khi demo với Hội đồng, em sẽ đi theo kịch bản 4 bước: Giới thiệu thẻ DHO-List, kéo Slider f để chứng minh khả năng lọc mẫu cũ, bấm nút bơm luồng One-Scan, và cuối cùng mở Tab 4 để demo động cơ Big Data với các bảng đồ họa TableView.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Tóm lại, đề tài đã hoàn thành xuất sắc các mục tiêu cả về mặt học thuật lý thuyết lẫn kỹ thuật lập trình Java nâng cao. Hướng phát triển tiếp theo là nâng cấp thuật toán bằng BitSet để tối ưu tốc độ CPU và kết nối với Apache Kafka để ứng dụng vào các hệ thống thương mại điện tử thực tế.</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 xin chân thành cảm ơn Quý Thầy Cô đã chú ý lắng nghe phần trình bày của em. Bây giờ em xin phép khởi chạy ứng dụng trực tiếp trên máy và sẵn sàng trả lời các câu hỏi phản biện từ Hội đồng.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731520"/>
            <a:ext cx="10332720" cy="457200"/>
          </a:xfrm>
          <a:prstGeom prst="rect">
            <a:avLst/>
          </a:prstGeom>
          <a:noFill/>
        </p:spPr>
        <p:txBody>
          <a:bodyPr wrap="none">
            <a:spAutoFit/>
          </a:bodyPr>
          <a:lstStyle/>
          <a:p>
            <a:pPr>
              <a:defRPr sz="1300" b="1">
                <a:solidFill>
                  <a:srgbClr val="85C1E9"/>
                </a:solidFill>
                <a:latin typeface="Arial"/>
              </a:defRPr>
            </a:pPr>
            <a:r>
              <a:t>TRƯỜNG ĐẠI HỌC ĐÀ LẠT • KHOA CÔNG NGHỆ THÔNG TIN</a:t>
            </a:r>
          </a:p>
        </p:txBody>
      </p:sp>
      <p:sp>
        <p:nvSpPr>
          <p:cNvPr id="4" name="TextBox 3"/>
          <p:cNvSpPr txBox="1"/>
          <p:nvPr/>
        </p:nvSpPr>
        <p:spPr>
          <a:xfrm>
            <a:off x="914400" y="1371600"/>
            <a:ext cx="10332720" cy="2011680"/>
          </a:xfrm>
          <a:prstGeom prst="rect">
            <a:avLst/>
          </a:prstGeom>
          <a:noFill/>
        </p:spPr>
        <p:txBody>
          <a:bodyPr wrap="square">
            <a:spAutoFit/>
          </a:bodyPr>
          <a:lstStyle/>
          <a:p>
            <a:pPr>
              <a:defRPr sz="4000" b="1">
                <a:solidFill>
                  <a:srgbClr val="FFFFFF"/>
                </a:solidFill>
                <a:latin typeface="Arial"/>
              </a:defRPr>
            </a:pPr>
            <a:r>
              <a:t>DHOPM STREAM VISUALIZER</a:t>
            </a:r>
          </a:p>
          <a:p>
            <a:pPr>
              <a:defRPr sz="1800">
                <a:solidFill>
                  <a:srgbClr val="D4EFDF"/>
                </a:solidFill>
                <a:latin typeface="Arial"/>
              </a:defRPr>
            </a:pPr>
            <a:r>
              <a:t>Nghiên cứu, Cài đặt và Trực quan hóa Thuật toán Khai phá Mẫu Độ Chiếm Dụng Cao trên Luồng Dữ liệu theo Cửa sổ Suy giảm</a:t>
            </a:r>
          </a:p>
        </p:txBody>
      </p:sp>
      <p:sp>
        <p:nvSpPr>
          <p:cNvPr id="5" name="Rounded Rectangle 4"/>
          <p:cNvSpPr/>
          <p:nvPr/>
        </p:nvSpPr>
        <p:spPr>
          <a:xfrm>
            <a:off x="914400" y="3566160"/>
            <a:ext cx="10362895" cy="1097280"/>
          </a:xfrm>
          <a:prstGeom prst="roundRect">
            <a:avLst/>
          </a:prstGeom>
          <a:solidFill>
            <a:srgbClr val="15385B"/>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3657600"/>
            <a:ext cx="10058400" cy="914400"/>
          </a:xfrm>
          <a:prstGeom prst="rect">
            <a:avLst/>
          </a:prstGeom>
          <a:noFill/>
        </p:spPr>
        <p:txBody>
          <a:bodyPr wrap="none">
            <a:spAutoFit/>
          </a:bodyPr>
          <a:lstStyle/>
          <a:p>
            <a:pPr>
              <a:defRPr b="1" sz="1200">
                <a:solidFill>
                  <a:srgbClr val="F9E79F"/>
                </a:solidFill>
              </a:defRPr>
            </a:pPr>
            <a:r>
              <a:t>📖 DỰA TRÊN BÀI BÁO KHOA HỌC QUỐC TẾ (EAAI 2026):</a:t>
            </a:r>
          </a:p>
          <a:p>
            <a:pPr>
              <a:defRPr sz="1100" i="1">
                <a:solidFill>
                  <a:srgbClr val="FFFFFF"/>
                </a:solidFill>
              </a:defRPr>
            </a:pPr>
            <a:r>
              <a:t>"Damped window based high occupancy pattern mining with one scanning of data streams"</a:t>
            </a:r>
            <a:br/>
            <a:r>
              <a:t>Engineering Applications of Artificial Intelligence (EAAI), Vol. 174, 2026. DOI: 10.1016/j.engappai.2026.114511</a:t>
            </a:r>
          </a:p>
        </p:txBody>
      </p:sp>
      <p:sp>
        <p:nvSpPr>
          <p:cNvPr id="7" name="TextBox 6"/>
          <p:cNvSpPr txBox="1"/>
          <p:nvPr/>
        </p:nvSpPr>
        <p:spPr>
          <a:xfrm>
            <a:off x="914400" y="4937760"/>
            <a:ext cx="10332720" cy="1371600"/>
          </a:xfrm>
          <a:prstGeom prst="rect">
            <a:avLst/>
          </a:prstGeom>
          <a:noFill/>
        </p:spPr>
        <p:txBody>
          <a:bodyPr wrap="none">
            <a:spAutoFit/>
          </a:bodyPr>
          <a:lstStyle/>
          <a:p>
            <a:pPr>
              <a:defRPr sz="1600" b="1">
                <a:solidFill>
                  <a:srgbClr val="FFFFFF"/>
                </a:solidFill>
              </a:defRPr>
            </a:pPr>
            <a:r>
              <a:t>Sinh viên thực hiện: NGUYỄN THANH TÂM – MSSV: 2312741</a:t>
            </a:r>
          </a:p>
          <a:p>
            <a:pPr>
              <a:defRPr sz="1300">
                <a:solidFill>
                  <a:srgbClr val="BDC3C7"/>
                </a:solidFill>
              </a:defRPr>
            </a:pPr>
            <a:r>
              <a:t>Thành viên nhóm phối hợp: Nguyễn Hữu Trung Sơn (Phụ trách Core Engine) | Học phần: Lập Trình Java Nâng Cao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1. Đặt Vấn Đề &amp; Động Lực Nghiên Cứu</a:t>
            </a:r>
          </a:p>
        </p:txBody>
      </p:sp>
      <p:sp>
        <p:nvSpPr>
          <p:cNvPr id="5" name="Rounded Rectangle 4"/>
          <p:cNvSpPr/>
          <p:nvPr/>
        </p:nvSpPr>
        <p:spPr>
          <a:xfrm>
            <a:off x="731520" y="1280160"/>
            <a:ext cx="5120640" cy="5029200"/>
          </a:xfrm>
          <a:prstGeom prst="roundRect">
            <a:avLst/>
          </a:prstGeom>
          <a:solidFill>
            <a:srgbClr val="FFFFFF"/>
          </a:solidFill>
          <a:ln w="1905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754880" cy="365760"/>
          </a:xfrm>
          <a:prstGeom prst="rect">
            <a:avLst/>
          </a:prstGeom>
          <a:noFill/>
        </p:spPr>
        <p:txBody>
          <a:bodyPr wrap="none">
            <a:spAutoFit/>
          </a:bodyPr>
          <a:lstStyle/>
          <a:p>
            <a:pPr>
              <a:defRPr sz="1400" b="1">
                <a:solidFill>
                  <a:srgbClr val="1F4E79"/>
                </a:solidFill>
                <a:latin typeface="Arial"/>
              </a:defRPr>
            </a:pPr>
            <a:r>
              <a:t>⚠️ Giới Hạn Của FIM Truyền Thống</a:t>
            </a:r>
          </a:p>
        </p:txBody>
      </p:sp>
      <p:sp>
        <p:nvSpPr>
          <p:cNvPr id="7" name="TextBox 6"/>
          <p:cNvSpPr txBox="1"/>
          <p:nvPr/>
        </p:nvSpPr>
        <p:spPr>
          <a:xfrm>
            <a:off x="914400" y="1828800"/>
            <a:ext cx="4754880" cy="4206240"/>
          </a:xfrm>
          <a:prstGeom prst="rect">
            <a:avLst/>
          </a:prstGeom>
          <a:noFill/>
        </p:spPr>
        <p:txBody>
          <a:bodyPr wrap="square">
            <a:spAutoFit/>
          </a:bodyPr>
          <a:lstStyle/>
          <a:p>
            <a:pPr>
              <a:defRPr sz="1300"/>
            </a:pPr>
            <a:r>
              <a:t>• Chỉ quan tâm tần số (Frequency/Support):</a:t>
            </a:r>
            <a:br/>
            <a:r>
              <a:t>  FIM chỉ đếm số lần xuất hiện nhị phân (0/1), hoàn toàn bỏ qua kích thước giao dịch.</a:t>
            </a:r>
          </a:p>
          <a:p>
            <a:br/>
            <a:pPr>
              <a:defRPr sz="1300"/>
            </a:pPr>
            <a:r>
              <a:t>• Thiên vị giao dịch ngẫu nhiên:</a:t>
            </a:r>
            <a:br/>
            <a:r>
              <a:t>  Tập {Bánh mì, Sữa} trong giỏ 100 món (chiếm 2%) vẫn được tính bằng giá trị với giỏ chỉ có 2 món (chiếm 100%).</a:t>
            </a:r>
          </a:p>
          <a:p>
            <a:br/>
            <a:pPr>
              <a:defRPr sz="1300"/>
            </a:pPr>
            <a:r>
              <a:t>• Bùng nổ không gian mẫu:</a:t>
            </a:r>
            <a:br/>
            <a:r>
              <a:t>  Ngưỡng minSup thấp sinh ra hàng triệu mẫu 'loãng' không có giá trị quyết định kinh doanh.</a:t>
            </a:r>
          </a:p>
        </p:txBody>
      </p:sp>
      <p:sp>
        <p:nvSpPr>
          <p:cNvPr id="8" name="Rounded Rectangle 7"/>
          <p:cNvSpPr/>
          <p:nvPr/>
        </p:nvSpPr>
        <p:spPr>
          <a:xfrm>
            <a:off x="6217920" y="1280160"/>
            <a:ext cx="521208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400" b="1">
                <a:solidFill>
                  <a:srgbClr val="1F4E79"/>
                </a:solidFill>
                <a:latin typeface="Arial"/>
              </a:defRPr>
            </a:pPr>
            <a:r>
              <a:t>💡 Thách Thức Trên Luồng Dữ Liệu &amp; Giải Pháp</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300"/>
            </a:pPr>
            <a:r>
              <a:t>• Ràng buộc Một Lần Quét (One-Scan):</a:t>
            </a:r>
            <a:br/>
            <a:r>
              <a:t>  Dữ liệu luồng đến liên tục, tốc độ cao, không thể lưu trữ toàn bộ hoặc quét lại các giao dịch cũ.</a:t>
            </a:r>
          </a:p>
          <a:p>
            <a:br/>
            <a:pPr>
              <a:defRPr sz="1300"/>
            </a:pPr>
            <a:r>
              <a:t>• Trôi dạt khái niệm (Concept Drift):</a:t>
            </a:r>
            <a:br/>
            <a:r>
              <a:t>  Hành vi người dùng thay đổi theo thời gian. Giao dịch từ vài tháng trước không còn mang tính dự báo.</a:t>
            </a:r>
          </a:p>
          <a:p>
            <a:br/>
            <a:pPr>
              <a:defRPr sz="1300" b="1">
                <a:solidFill>
                  <a:srgbClr val="1F4E79"/>
                </a:solidFill>
              </a:defRPr>
            </a:pPr>
            <a:r>
              <a:t>★ ĐỘ ĐO ĐỘ CHIẾM DỤNG (OCCUPANCY):</a:t>
            </a:r>
            <a:br/>
            <a:r>
              <a:t>  O(X, Td) = |X| / |Td|</a:t>
            </a:r>
            <a:br/>
            <a:r>
              <a:t>  Đo lường mức độ thống trị, ưu tiên các tổ hợp chiếm tỷ lệ lớn trong giao dịch.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2. Bài Báo Gốc &amp; 3 Đóng Góp Đột Phá (EAAI 2026)</a:t>
            </a:r>
          </a:p>
        </p:txBody>
      </p:sp>
      <p:sp>
        <p:nvSpPr>
          <p:cNvPr id="5" name="Rounded Rectangle 4"/>
          <p:cNvSpPr/>
          <p:nvPr/>
        </p:nvSpPr>
        <p:spPr>
          <a:xfrm>
            <a:off x="731520" y="1280160"/>
            <a:ext cx="329184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2926080" cy="365760"/>
          </a:xfrm>
          <a:prstGeom prst="rect">
            <a:avLst/>
          </a:prstGeom>
          <a:noFill/>
        </p:spPr>
        <p:txBody>
          <a:bodyPr wrap="none">
            <a:spAutoFit/>
          </a:bodyPr>
          <a:lstStyle/>
          <a:p>
            <a:pPr>
              <a:defRPr sz="1400" b="1">
                <a:solidFill>
                  <a:srgbClr val="1F4E79"/>
                </a:solidFill>
                <a:latin typeface="Arial"/>
              </a:defRPr>
            </a:pPr>
            <a:r>
              <a:t>1. Damped Window &amp; DO</a:t>
            </a:r>
          </a:p>
        </p:txBody>
      </p:sp>
      <p:sp>
        <p:nvSpPr>
          <p:cNvPr id="7" name="TextBox 6"/>
          <p:cNvSpPr txBox="1"/>
          <p:nvPr/>
        </p:nvSpPr>
        <p:spPr>
          <a:xfrm>
            <a:off x="914400" y="1828800"/>
            <a:ext cx="2926080" cy="4114800"/>
          </a:xfrm>
          <a:prstGeom prst="rect">
            <a:avLst/>
          </a:prstGeom>
          <a:noFill/>
        </p:spPr>
        <p:txBody>
          <a:bodyPr wrap="square">
            <a:spAutoFit/>
          </a:bodyPr>
          <a:lstStyle/>
          <a:p>
            <a:pPr>
              <a:defRPr sz="1250"/>
            </a:pPr>
            <a:r>
              <a:t>• Hệ số suy giảm hàm mũ:</a:t>
            </a:r>
            <a:br/>
            <a:r>
              <a:t>  f^(TL - Td) với f ∈ (0, 1].</a:t>
            </a:r>
            <a:br/>
            <a:br/>
            <a:r>
              <a:t>• Giao dịch mới nhất (TL):</a:t>
            </a:r>
            <a:br/>
            <a:r>
              <a:t>  Giữ nguyên 100% giá trị.</a:t>
            </a:r>
            <a:br/>
            <a:br/>
            <a:r>
              <a:t>• Giao dịch cũ (Td nhỏ):</a:t>
            </a:r>
            <a:br/>
            <a:r>
              <a:t>  Mất dần giá trị theo thời gian.</a:t>
            </a:r>
            <a:br/>
            <a:br/>
            <a:r>
              <a:t>• Damped Occupancy (DO):</a:t>
            </a:r>
            <a:br/>
            <a:r>
              <a:t>  DO(X, Td) = (|X|/|Td|) × f^(TL-Td)</a:t>
            </a:r>
            <a:br/>
            <a:br/>
            <a:r>
              <a:t>→ Ưu tiên xu hướng nóng hổi gần đây nhất!</a:t>
            </a:r>
          </a:p>
        </p:txBody>
      </p:sp>
      <p:sp>
        <p:nvSpPr>
          <p:cNvPr id="8" name="Rounded Rectangle 7"/>
          <p:cNvSpPr/>
          <p:nvPr/>
        </p:nvSpPr>
        <p:spPr>
          <a:xfrm>
            <a:off x="4389120" y="1280160"/>
            <a:ext cx="3291840" cy="5029200"/>
          </a:xfrm>
          <a:prstGeom prst="round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417320"/>
            <a:ext cx="2926080" cy="365760"/>
          </a:xfrm>
          <a:prstGeom prst="rect">
            <a:avLst/>
          </a:prstGeom>
          <a:noFill/>
        </p:spPr>
        <p:txBody>
          <a:bodyPr wrap="none">
            <a:spAutoFit/>
          </a:bodyPr>
          <a:lstStyle/>
          <a:p>
            <a:pPr>
              <a:defRPr sz="1400" b="1">
                <a:solidFill>
                  <a:srgbClr val="1F4E79"/>
                </a:solidFill>
                <a:latin typeface="Arial"/>
              </a:defRPr>
            </a:pPr>
            <a:r>
              <a:t>2. Cận Trên DUBO</a:t>
            </a:r>
          </a:p>
        </p:txBody>
      </p:sp>
      <p:sp>
        <p:nvSpPr>
          <p:cNvPr id="10" name="TextBox 9"/>
          <p:cNvSpPr txBox="1"/>
          <p:nvPr/>
        </p:nvSpPr>
        <p:spPr>
          <a:xfrm>
            <a:off x="4572000" y="1828800"/>
            <a:ext cx="2926080" cy="4114800"/>
          </a:xfrm>
          <a:prstGeom prst="rect">
            <a:avLst/>
          </a:prstGeom>
          <a:noFill/>
        </p:spPr>
        <p:txBody>
          <a:bodyPr wrap="square">
            <a:spAutoFit/>
          </a:bodyPr>
          <a:lstStyle/>
          <a:p>
            <a:pPr>
              <a:defRPr sz="1250"/>
            </a:pPr>
            <a:r>
              <a:t>• Thách thức phi đơn điệu:</a:t>
            </a:r>
            <a:br/>
            <a:r>
              <a:t>  Occupancy KHÔNG có tính phản đơn điệu (thêm item có thể TĂNG occupancy!).</a:t>
            </a:r>
            <a:br/>
            <a:br/>
            <a:r>
              <a:t>• Giải pháp DUBO:</a:t>
            </a:r>
            <a:br/>
            <a:r>
              <a:t>  DUBO(X) là cận trên toán học được chứng minh chặt chẽ:</a:t>
            </a:r>
            <a:br/>
            <a:r>
              <a:t>  DO(X') ≤ DUBO(X) với mọi X' ⊃ X.</a:t>
            </a:r>
            <a:br/>
            <a:br/>
            <a:r>
              <a:t>• Cắt tỉa nhánh con:</a:t>
            </a:r>
            <a:br/>
            <a:r>
              <a:t>  Nếu DUBO(X) &lt; minSup → Prune ngay lập tức!</a:t>
            </a:r>
          </a:p>
        </p:txBody>
      </p:sp>
      <p:sp>
        <p:nvSpPr>
          <p:cNvPr id="11" name="Rounded Rectangle 10"/>
          <p:cNvSpPr/>
          <p:nvPr/>
        </p:nvSpPr>
        <p:spPr>
          <a:xfrm>
            <a:off x="8046720" y="1280160"/>
            <a:ext cx="3291840" cy="5029200"/>
          </a:xfrm>
          <a:prstGeom prst="roundRect">
            <a:avLst/>
          </a:prstGeom>
          <a:solidFill>
            <a:srgbClr val="FFFFFF"/>
          </a:solidFill>
          <a:ln w="1905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1417320"/>
            <a:ext cx="2926080" cy="365760"/>
          </a:xfrm>
          <a:prstGeom prst="rect">
            <a:avLst/>
          </a:prstGeom>
          <a:noFill/>
        </p:spPr>
        <p:txBody>
          <a:bodyPr wrap="none">
            <a:spAutoFit/>
          </a:bodyPr>
          <a:lstStyle/>
          <a:p>
            <a:pPr>
              <a:defRPr sz="1400" b="1">
                <a:solidFill>
                  <a:srgbClr val="1F4E79"/>
                </a:solidFill>
                <a:latin typeface="Arial"/>
              </a:defRPr>
            </a:pPr>
            <a:r>
              <a:t>3. One-Scan DHO-List</a:t>
            </a:r>
          </a:p>
        </p:txBody>
      </p:sp>
      <p:sp>
        <p:nvSpPr>
          <p:cNvPr id="13" name="TextBox 12"/>
          <p:cNvSpPr txBox="1"/>
          <p:nvPr/>
        </p:nvSpPr>
        <p:spPr>
          <a:xfrm>
            <a:off x="8229600" y="1828800"/>
            <a:ext cx="2926080" cy="4114800"/>
          </a:xfrm>
          <a:prstGeom prst="rect">
            <a:avLst/>
          </a:prstGeom>
          <a:noFill/>
        </p:spPr>
        <p:txBody>
          <a:bodyPr wrap="square">
            <a:spAutoFit/>
          </a:bodyPr>
          <a:lstStyle/>
          <a:p>
            <a:pPr>
              <a:defRPr sz="1250"/>
            </a:pPr>
            <a:r>
              <a:t>• Cấu trúc danh sách toàn cục:</a:t>
            </a:r>
            <a:br/>
            <a:r>
              <a:t>  Mỗi node lưu trữ cặp &lt;TID, TLen&gt; thay vì toàn bộ item.</a:t>
            </a:r>
            <a:br/>
            <a:br/>
            <a:r>
              <a:t>• Tiết kiệm bộ nhớ RAM:</a:t>
            </a:r>
            <a:br/>
            <a:r>
              <a:t>  Giảm hơn 80% dung lượng so với lưu vết giao dịch thô.</a:t>
            </a:r>
            <a:br/>
            <a:br/>
            <a:r>
              <a:t>• Cập nhật gia tăng:</a:t>
            </a:r>
            <a:br/>
            <a:r>
              <a:t>  Giao dịch mới đến chỉ quét 1 lần duy nhất, không đọc lại lịch sử.</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3. Độ Đo Damped Occupancy (DO) &amp; Vai Trò Của Hệ Số f</a:t>
            </a:r>
          </a:p>
        </p:txBody>
      </p:sp>
      <p:sp>
        <p:nvSpPr>
          <p:cNvPr id="5" name="Rounded Rectangle 4"/>
          <p:cNvSpPr/>
          <p:nvPr/>
        </p:nvSpPr>
        <p:spPr>
          <a:xfrm>
            <a:off x="731520" y="1280160"/>
            <a:ext cx="530352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937760" cy="365760"/>
          </a:xfrm>
          <a:prstGeom prst="rect">
            <a:avLst/>
          </a:prstGeom>
          <a:noFill/>
        </p:spPr>
        <p:txBody>
          <a:bodyPr wrap="none">
            <a:spAutoFit/>
          </a:bodyPr>
          <a:lstStyle/>
          <a:p>
            <a:pPr>
              <a:defRPr sz="1400" b="1">
                <a:solidFill>
                  <a:srgbClr val="1F4E79"/>
                </a:solidFill>
                <a:latin typeface="Arial"/>
              </a:defRPr>
            </a:pPr>
            <a:r>
              <a:t>📊 Dữ Liệu Chuẩn Table 1 (TL = 8)</a:t>
            </a:r>
          </a:p>
        </p:txBody>
      </p:sp>
      <p:sp>
        <p:nvSpPr>
          <p:cNvPr id="7" name="TextBox 6"/>
          <p:cNvSpPr txBox="1"/>
          <p:nvPr/>
        </p:nvSpPr>
        <p:spPr>
          <a:xfrm>
            <a:off x="914400" y="1828800"/>
            <a:ext cx="4937760" cy="4206240"/>
          </a:xfrm>
          <a:prstGeom prst="rect">
            <a:avLst/>
          </a:prstGeom>
          <a:noFill/>
        </p:spPr>
        <p:txBody>
          <a:bodyPr wrap="square">
            <a:spAutoFit/>
          </a:bodyPr>
          <a:lstStyle/>
          <a:p>
            <a:pPr>
              <a:defRPr sz="1200"/>
            </a:pPr>
            <a:r>
              <a:t>• DB0 (Cũ nhất): T1 {A,C,D,E}, T2 {A,E,F}, T3 {B,C,D,E}, T4 {C,D,F}</a:t>
            </a:r>
            <a:br/>
            <a:r>
              <a:t>  Trọng số f^(8-Td): 0.9^7 ≈ 0.478, 0.9^6 ≈ 0.531, 0.9^5 ≈ 0.590...</a:t>
            </a:r>
          </a:p>
          <a:p>
            <a:br/>
            <a:pPr>
              <a:defRPr sz="1200"/>
            </a:pPr>
            <a:r>
              <a:t>• DB1 (Trung gian): T5 {B,F}, T6 {D,E,F}</a:t>
            </a:r>
            <a:br/>
            <a:r>
              <a:t>  Trọng số f^(8-Td): 0.9^3 = 0.729, 0.9^2 = 0.810</a:t>
            </a:r>
          </a:p>
          <a:p>
            <a:br/>
            <a:pPr>
              <a:defRPr sz="1200"/>
            </a:pPr>
            <a:r>
              <a:t>• DB2 (Mới nhất): T7 {A,B,C,F}, T8 {A,E,G}</a:t>
            </a:r>
            <a:br/>
            <a:r>
              <a:t>  Trọng số f^(8-Td): 0.9^1 = 0.900, 0.9^0 = 1.000 (100% giá trị)</a:t>
            </a:r>
          </a:p>
        </p:txBody>
      </p:sp>
      <p:sp>
        <p:nvSpPr>
          <p:cNvPr id="8" name="Rounded Rectangle 7"/>
          <p:cNvSpPr/>
          <p:nvPr/>
        </p:nvSpPr>
        <p:spPr>
          <a:xfrm>
            <a:off x="6217920" y="1280160"/>
            <a:ext cx="521208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400" b="1">
                <a:solidFill>
                  <a:srgbClr val="1F4E79"/>
                </a:solidFill>
                <a:latin typeface="Arial"/>
              </a:defRPr>
            </a:pPr>
            <a:r>
              <a:t>🔥 Chứng Minh Thực Nghiệm Vai Trò Của f</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300"/>
            </a:pPr>
            <a:r>
              <a:t>Khi f = 1.0 (Mô hình tĩnh không suy giảm):</a:t>
            </a:r>
            <a:br/>
            <a:r>
              <a:t>→ Có tới 9 mẫu đạt DHOP: {AE, F, CD, DE, BF, CDE, E, DF, EF}.</a:t>
            </a:r>
            <a:br/>
            <a:r>
              <a:t>→ Dữ liệu cũ từ T1, T3 vẫn được tính nguyên giá trị.</a:t>
            </a:r>
          </a:p>
          <a:p>
            <a:br/>
            <a:pPr>
              <a:defRPr sz="1300"/>
            </a:pPr>
            <a:r>
              <a:t>Khi f = 0.9 (Mô hình luồng có suy giảm thời gian):</a:t>
            </a:r>
            <a:br/>
            <a:r>
              <a:t>→ Chỉ còn đúng 2 mẫu đạt DHOP: {AE} (DO=1.2601) và {F} (DO=1.2553).</a:t>
            </a:r>
            <a:br/>
            <a:r>
              <a:t>→ Các mẫu cũ như CD, DE, CDE bị suy thoái điểm số và rơi xuống dưới minSup = 1.2.</a:t>
            </a:r>
          </a:p>
          <a:p>
            <a:br/>
            <a:pPr>
              <a:defRPr sz="1300" b="1">
                <a:solidFill>
                  <a:srgbClr val="0E6251"/>
                </a:solidFill>
              </a:defRPr>
            </a:pPr>
            <a:r>
              <a:t>★ KẾT LUẬN QUAN TRỌNG:</a:t>
            </a:r>
            <a:br/>
            <a:r>
              <a:t>Hệ số f = 0.9 đã loại bỏ 77.8% các mẫu lỗi thời trong quá khứ, giúp doanh nghiệp chỉ tập trung vào các xu hướng thật sự nóng hổi!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4. Kiến Trúc Phần Mềm &amp; Các Design Patterns Áp Dụng</a:t>
            </a:r>
          </a:p>
        </p:txBody>
      </p:sp>
      <p:sp>
        <p:nvSpPr>
          <p:cNvPr id="5" name="Rounded Rectangle 4"/>
          <p:cNvSpPr/>
          <p:nvPr/>
        </p:nvSpPr>
        <p:spPr>
          <a:xfrm>
            <a:off x="731520" y="1280160"/>
            <a:ext cx="5120640" cy="237744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754880" cy="365760"/>
          </a:xfrm>
          <a:prstGeom prst="rect">
            <a:avLst/>
          </a:prstGeom>
          <a:noFill/>
        </p:spPr>
        <p:txBody>
          <a:bodyPr wrap="none">
            <a:spAutoFit/>
          </a:bodyPr>
          <a:lstStyle/>
          <a:p>
            <a:pPr>
              <a:defRPr sz="1400" b="1">
                <a:solidFill>
                  <a:srgbClr val="1F4E79"/>
                </a:solidFill>
                <a:latin typeface="Arial"/>
              </a:defRPr>
            </a:pPr>
            <a:r>
              <a:t>🌉 Bridge &amp; Adapter Pattern</a:t>
            </a:r>
          </a:p>
        </p:txBody>
      </p:sp>
      <p:sp>
        <p:nvSpPr>
          <p:cNvPr id="7" name="TextBox 6"/>
          <p:cNvSpPr txBox="1"/>
          <p:nvPr/>
        </p:nvSpPr>
        <p:spPr>
          <a:xfrm>
            <a:off x="914400" y="1737360"/>
            <a:ext cx="4754880" cy="1737360"/>
          </a:xfrm>
          <a:prstGeom prst="rect">
            <a:avLst/>
          </a:prstGeom>
          <a:noFill/>
        </p:spPr>
        <p:txBody>
          <a:bodyPr wrap="square">
            <a:spAutoFit/>
          </a:bodyPr>
          <a:lstStyle/>
          <a:p>
            <a:pPr>
              <a:defRPr sz="1200"/>
            </a:pPr>
            <a:r>
              <a:t>• MainController chỉ phụ thuộc vào Interface BridgeEngine.</a:t>
            </a:r>
            <a:br/>
            <a:r>
              <a:t>• TamSimulationBridge bọc engine mô phỏng của Tâm.</a:t>
            </a:r>
            <a:br/>
            <a:r>
              <a:t>• TsonV1Bridge bọc engine tốc độ cao của Tson.</a:t>
            </a:r>
            <a:br/>
            <a:r>
              <a:t>→ Độc lập hoàn toàn giữa Giao diện và Thuật toán (DIP).</a:t>
            </a:r>
          </a:p>
        </p:txBody>
      </p:sp>
      <p:sp>
        <p:nvSpPr>
          <p:cNvPr id="8" name="Rounded Rectangle 7"/>
          <p:cNvSpPr/>
          <p:nvPr/>
        </p:nvSpPr>
        <p:spPr>
          <a:xfrm>
            <a:off x="6217920" y="1280160"/>
            <a:ext cx="5120640" cy="237744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754880" cy="365760"/>
          </a:xfrm>
          <a:prstGeom prst="rect">
            <a:avLst/>
          </a:prstGeom>
          <a:noFill/>
        </p:spPr>
        <p:txBody>
          <a:bodyPr wrap="none">
            <a:spAutoFit/>
          </a:bodyPr>
          <a:lstStyle/>
          <a:p>
            <a:pPr>
              <a:defRPr sz="1400" b="1">
                <a:solidFill>
                  <a:srgbClr val="1F4E79"/>
                </a:solidFill>
                <a:latin typeface="Arial"/>
              </a:defRPr>
            </a:pPr>
            <a:r>
              <a:t>⚙️ Strategy &amp; Factory Method</a:t>
            </a:r>
          </a:p>
        </p:txBody>
      </p:sp>
      <p:sp>
        <p:nvSpPr>
          <p:cNvPr id="10" name="TextBox 9"/>
          <p:cNvSpPr txBox="1"/>
          <p:nvPr/>
        </p:nvSpPr>
        <p:spPr>
          <a:xfrm>
            <a:off x="6400800" y="1737360"/>
            <a:ext cx="4754880" cy="1737360"/>
          </a:xfrm>
          <a:prstGeom prst="rect">
            <a:avLst/>
          </a:prstGeom>
          <a:noFill/>
        </p:spPr>
        <p:txBody>
          <a:bodyPr wrap="square">
            <a:spAutoFit/>
          </a:bodyPr>
          <a:lstStyle/>
          <a:p>
            <a:pPr>
              <a:defRPr sz="1200"/>
            </a:pPr>
            <a:r>
              <a:t>• EngineMode (Enum): Định nghĩa chiến lược engine.</a:t>
            </a:r>
            <a:br/>
            <a:r>
              <a:t>• EngineFactory: Khởi tạo engine phù hợp tại Runtime.</a:t>
            </a:r>
            <a:br/>
            <a:r>
              <a:t>• Người dùng tráo đổi động cơ trên ComboBox mà không cần sửa code.</a:t>
            </a:r>
          </a:p>
        </p:txBody>
      </p:sp>
      <p:sp>
        <p:nvSpPr>
          <p:cNvPr id="11" name="Rounded Rectangle 10"/>
          <p:cNvSpPr/>
          <p:nvPr/>
        </p:nvSpPr>
        <p:spPr>
          <a:xfrm>
            <a:off x="731520" y="3931920"/>
            <a:ext cx="5120640" cy="237744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069080"/>
            <a:ext cx="4754880" cy="365760"/>
          </a:xfrm>
          <a:prstGeom prst="rect">
            <a:avLst/>
          </a:prstGeom>
          <a:noFill/>
        </p:spPr>
        <p:txBody>
          <a:bodyPr wrap="none">
            <a:spAutoFit/>
          </a:bodyPr>
          <a:lstStyle/>
          <a:p>
            <a:pPr>
              <a:defRPr sz="1400" b="1">
                <a:solidFill>
                  <a:srgbClr val="1F4E79"/>
                </a:solidFill>
                <a:latin typeface="Arial"/>
              </a:defRPr>
            </a:pPr>
            <a:r>
              <a:t>📡 Observer Pattern &amp; Concurrency</a:t>
            </a:r>
          </a:p>
        </p:txBody>
      </p:sp>
      <p:sp>
        <p:nvSpPr>
          <p:cNvPr id="13" name="TextBox 12"/>
          <p:cNvSpPr txBox="1"/>
          <p:nvPr/>
        </p:nvSpPr>
        <p:spPr>
          <a:xfrm>
            <a:off x="914400" y="4389120"/>
            <a:ext cx="4754880" cy="1737360"/>
          </a:xfrm>
          <a:prstGeom prst="rect">
            <a:avLst/>
          </a:prstGeom>
          <a:noFill/>
        </p:spPr>
        <p:txBody>
          <a:bodyPr wrap="square">
            <a:spAutoFit/>
          </a:bodyPr>
          <a:lstStyle/>
          <a:p>
            <a:pPr>
              <a:defRPr sz="1200"/>
            </a:pPr>
            <a:r>
              <a:t>• PhaseListener: Báo cáo thời gian thực thi của từng pha.</a:t>
            </a:r>
            <a:br/>
            <a:r>
              <a:t>• MiningProgressListener: Báo cáo tiến độ (0-100%) lên ProgressBar.</a:t>
            </a:r>
            <a:br/>
            <a:r>
              <a:t>• Chạy trên Background Task, đồng bộ UI qua Platform.runLater().</a:t>
            </a:r>
          </a:p>
        </p:txBody>
      </p:sp>
      <p:sp>
        <p:nvSpPr>
          <p:cNvPr id="14" name="Rounded Rectangle 13"/>
          <p:cNvSpPr/>
          <p:nvPr/>
        </p:nvSpPr>
        <p:spPr>
          <a:xfrm>
            <a:off x="6217920" y="3931920"/>
            <a:ext cx="5120640" cy="237744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4069080"/>
            <a:ext cx="4754880" cy="365760"/>
          </a:xfrm>
          <a:prstGeom prst="rect">
            <a:avLst/>
          </a:prstGeom>
          <a:noFill/>
        </p:spPr>
        <p:txBody>
          <a:bodyPr wrap="none">
            <a:spAutoFit/>
          </a:bodyPr>
          <a:lstStyle/>
          <a:p>
            <a:pPr>
              <a:defRPr sz="1400" b="1">
                <a:solidFill>
                  <a:srgbClr val="1F4E79"/>
                </a:solidFill>
                <a:latin typeface="Arial"/>
              </a:defRPr>
            </a:pPr>
            <a:r>
              <a:t>🏛️ Monorepo &amp; Java Records (MVC)</a:t>
            </a:r>
          </a:p>
        </p:txBody>
      </p:sp>
      <p:sp>
        <p:nvSpPr>
          <p:cNvPr id="16" name="TextBox 15"/>
          <p:cNvSpPr txBox="1"/>
          <p:nvPr/>
        </p:nvSpPr>
        <p:spPr>
          <a:xfrm>
            <a:off x="6400800" y="4389120"/>
            <a:ext cx="4754880" cy="1737360"/>
          </a:xfrm>
          <a:prstGeom prst="rect">
            <a:avLst/>
          </a:prstGeom>
          <a:noFill/>
        </p:spPr>
        <p:txBody>
          <a:bodyPr wrap="square">
            <a:spAutoFit/>
          </a:bodyPr>
          <a:lstStyle/>
          <a:p>
            <a:pPr>
              <a:defRPr sz="1200"/>
            </a:pPr>
            <a:r>
              <a:t>• dhopm-common: Hợp đồng chung, không bao giờ merge conflict.</a:t>
            </a:r>
            <a:br/>
            <a:r>
              <a:t>• MVC: Tách biệt FXML View, MainController và Data Models.</a:t>
            </a:r>
            <a:br/>
            <a:r>
              <a:t>• Modern Java Records: Entry, PatternResult, GoldenRow, TopItemStat.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5. Hiện Thực Hóa Giao Diện Trực Quan (Tabs 1, 2, 3)</a:t>
            </a:r>
          </a:p>
        </p:txBody>
      </p:sp>
      <p:sp>
        <p:nvSpPr>
          <p:cNvPr id="5" name="Rounded Rectangle 4"/>
          <p:cNvSpPr/>
          <p:nvPr/>
        </p:nvSpPr>
        <p:spPr>
          <a:xfrm>
            <a:off x="731520" y="1280160"/>
            <a:ext cx="329184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2926080" cy="365760"/>
          </a:xfrm>
          <a:prstGeom prst="rect">
            <a:avLst/>
          </a:prstGeom>
          <a:noFill/>
        </p:spPr>
        <p:txBody>
          <a:bodyPr wrap="none">
            <a:spAutoFit/>
          </a:bodyPr>
          <a:lstStyle/>
          <a:p>
            <a:pPr>
              <a:defRPr sz="1400" b="1">
                <a:solidFill>
                  <a:srgbClr val="1F4E79"/>
                </a:solidFill>
                <a:latin typeface="Arial"/>
              </a:defRPr>
            </a:pPr>
            <a:r>
              <a:t>Tab 1: Global DHO-List</a:t>
            </a:r>
          </a:p>
        </p:txBody>
      </p:sp>
      <p:sp>
        <p:nvSpPr>
          <p:cNvPr id="7" name="TextBox 6"/>
          <p:cNvSpPr txBox="1"/>
          <p:nvPr/>
        </p:nvSpPr>
        <p:spPr>
          <a:xfrm>
            <a:off x="914400" y="1828800"/>
            <a:ext cx="2926080" cy="4114800"/>
          </a:xfrm>
          <a:prstGeom prst="rect">
            <a:avLst/>
          </a:prstGeom>
          <a:noFill/>
        </p:spPr>
        <p:txBody>
          <a:bodyPr wrap="square">
            <a:spAutoFit/>
          </a:bodyPr>
          <a:lstStyle/>
          <a:p>
            <a:pPr>
              <a:defRPr sz="1250"/>
            </a:pPr>
            <a:r>
              <a:t>• Thẻ động DHONodeCard:</a:t>
            </a:r>
            <a:br/>
            <a:r>
              <a:t>  Hiển thị trực quan từng item trong DHO-List.</a:t>
            </a:r>
            <a:br/>
            <a:br/>
            <a:r>
              <a:t>• Sắp xếp tự động:</a:t>
            </a:r>
            <a:br/>
            <a:r>
              <a:t>  Theo thứ tự Support tăng dần: G ≺ B ≺ A ≺ C ≺ D ≺ E ≺ F.</a:t>
            </a:r>
            <a:br/>
            <a:br/>
            <a:r>
              <a:t>• Đổi màu thông minh:</a:t>
            </a:r>
            <a:br/>
            <a:r>
              <a:t>  🟢 Xanh: Đạt DHOP</a:t>
            </a:r>
            <a:br/>
            <a:r>
              <a:t>  🔴 Đỏ: Bị cắt tỉa DUBO</a:t>
            </a:r>
            <a:br/>
            <a:r>
              <a:t>  ⚪ Xám: Nút trung gian.</a:t>
            </a:r>
          </a:p>
        </p:txBody>
      </p:sp>
      <p:sp>
        <p:nvSpPr>
          <p:cNvPr id="8" name="Rounded Rectangle 7"/>
          <p:cNvSpPr/>
          <p:nvPr/>
        </p:nvSpPr>
        <p:spPr>
          <a:xfrm>
            <a:off x="4389120" y="1280160"/>
            <a:ext cx="329184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417320"/>
            <a:ext cx="2926080" cy="365760"/>
          </a:xfrm>
          <a:prstGeom prst="rect">
            <a:avLst/>
          </a:prstGeom>
          <a:noFill/>
        </p:spPr>
        <p:txBody>
          <a:bodyPr wrap="none">
            <a:spAutoFit/>
          </a:bodyPr>
          <a:lstStyle/>
          <a:p>
            <a:pPr>
              <a:defRPr sz="1400" b="1">
                <a:solidFill>
                  <a:srgbClr val="1F4E79"/>
                </a:solidFill>
                <a:latin typeface="Arial"/>
              </a:defRPr>
            </a:pPr>
            <a:r>
              <a:t>Tab 2: Cây Duyệt DFS</a:t>
            </a:r>
          </a:p>
        </p:txBody>
      </p:sp>
      <p:sp>
        <p:nvSpPr>
          <p:cNvPr id="10" name="TextBox 9"/>
          <p:cNvSpPr txBox="1"/>
          <p:nvPr/>
        </p:nvSpPr>
        <p:spPr>
          <a:xfrm>
            <a:off x="4572000" y="1828800"/>
            <a:ext cx="2926080" cy="4114800"/>
          </a:xfrm>
          <a:prstGeom prst="rect">
            <a:avLst/>
          </a:prstGeom>
          <a:noFill/>
        </p:spPr>
        <p:txBody>
          <a:bodyPr wrap="square">
            <a:spAutoFit/>
          </a:bodyPr>
          <a:lstStyle/>
          <a:p>
            <a:pPr>
              <a:defRPr sz="1250"/>
            </a:pPr>
            <a:r>
              <a:t>• Bảng thống kê 32 mẫu:</a:t>
            </a:r>
            <a:br/>
            <a:r>
              <a:t>  Hiển thị toàn bộ không gian ứng viên trong cây duyệt đệ quy DFS.</a:t>
            </a:r>
            <a:br/>
            <a:br/>
            <a:r>
              <a:t>• Đối soát chi tiết:</a:t>
            </a:r>
            <a:br/>
            <a:r>
              <a:t>  Cung cấp DO(X), DUBO(X), trạng thái Prune và danh sách TIDs.</a:t>
            </a:r>
            <a:br/>
            <a:br/>
            <a:r>
              <a:t>• Phục vụ kiểm chứng:</a:t>
            </a:r>
            <a:br/>
            <a:r>
              <a:t>  Giúp giảng viên theo dõi từng bước chạy của thuật toán.</a:t>
            </a:r>
          </a:p>
        </p:txBody>
      </p:sp>
      <p:sp>
        <p:nvSpPr>
          <p:cNvPr id="11" name="Rounded Rectangle 10"/>
          <p:cNvSpPr/>
          <p:nvPr/>
        </p:nvSpPr>
        <p:spPr>
          <a:xfrm>
            <a:off x="8046720" y="1280160"/>
            <a:ext cx="329184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1417320"/>
            <a:ext cx="2926080" cy="365760"/>
          </a:xfrm>
          <a:prstGeom prst="rect">
            <a:avLst/>
          </a:prstGeom>
          <a:noFill/>
        </p:spPr>
        <p:txBody>
          <a:bodyPr wrap="none">
            <a:spAutoFit/>
          </a:bodyPr>
          <a:lstStyle/>
          <a:p>
            <a:pPr>
              <a:defRPr sz="1400" b="1">
                <a:solidFill>
                  <a:srgbClr val="1F4E79"/>
                </a:solidFill>
                <a:latin typeface="Arial"/>
              </a:defRPr>
            </a:pPr>
            <a:r>
              <a:t>Tab 3: Biểu Đồ DO Live</a:t>
            </a:r>
          </a:p>
        </p:txBody>
      </p:sp>
      <p:sp>
        <p:nvSpPr>
          <p:cNvPr id="13" name="TextBox 12"/>
          <p:cNvSpPr txBox="1"/>
          <p:nvPr/>
        </p:nvSpPr>
        <p:spPr>
          <a:xfrm>
            <a:off x="8229600" y="1828800"/>
            <a:ext cx="2926080" cy="4114800"/>
          </a:xfrm>
          <a:prstGeom prst="rect">
            <a:avLst/>
          </a:prstGeom>
          <a:noFill/>
        </p:spPr>
        <p:txBody>
          <a:bodyPr wrap="square">
            <a:spAutoFit/>
          </a:bodyPr>
          <a:lstStyle/>
          <a:p>
            <a:pPr>
              <a:defRPr sz="1250"/>
            </a:pPr>
            <a:r>
              <a:t>• Live LineChart:</a:t>
            </a:r>
            <a:br/>
            <a:r>
              <a:t>  Biểu đồ đường thời gian thực cập nhật ngay khi kéo Slider f.</a:t>
            </a:r>
            <a:br/>
            <a:br/>
            <a:r>
              <a:t>• So sánh trực quan:</a:t>
            </a:r>
            <a:br/>
            <a:r>
              <a:t>  Cột mốc từng item so với đường tham chiếu ngưỡng đỏ minSup.</a:t>
            </a:r>
            <a:br/>
            <a:br/>
            <a:r>
              <a:t>• Đa luồng mượt mà:</a:t>
            </a:r>
            <a:br/>
            <a:r>
              <a:t>  Cập nhật liên tục 60 FPS mà không làm giật lag giao diện.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6. Tab 4: Tích Hợp Động Cơ Tson &amp; Bảng Native TableView</a:t>
            </a:r>
          </a:p>
        </p:txBody>
      </p:sp>
      <p:sp>
        <p:nvSpPr>
          <p:cNvPr id="5" name="Rounded Rectangle 4"/>
          <p:cNvSpPr/>
          <p:nvPr/>
        </p:nvSpPr>
        <p:spPr>
          <a:xfrm>
            <a:off x="731520" y="1280160"/>
            <a:ext cx="512064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754880" cy="365760"/>
          </a:xfrm>
          <a:prstGeom prst="rect">
            <a:avLst/>
          </a:prstGeom>
          <a:noFill/>
        </p:spPr>
        <p:txBody>
          <a:bodyPr wrap="none">
            <a:spAutoFit/>
          </a:bodyPr>
          <a:lstStyle/>
          <a:p>
            <a:pPr>
              <a:defRPr sz="1400" b="1">
                <a:solidFill>
                  <a:srgbClr val="1F4E79"/>
                </a:solidFill>
                <a:latin typeface="Arial"/>
              </a:defRPr>
            </a:pPr>
            <a:r>
              <a:t>🖱️ Biến Lệnh Terminal CLI Thành GUI</a:t>
            </a:r>
          </a:p>
        </p:txBody>
      </p:sp>
      <p:sp>
        <p:nvSpPr>
          <p:cNvPr id="7" name="TextBox 6"/>
          <p:cNvSpPr txBox="1"/>
          <p:nvPr/>
        </p:nvSpPr>
        <p:spPr>
          <a:xfrm>
            <a:off x="914400" y="1828800"/>
            <a:ext cx="4754880" cy="4206240"/>
          </a:xfrm>
          <a:prstGeom prst="rect">
            <a:avLst/>
          </a:prstGeom>
          <a:noFill/>
        </p:spPr>
        <p:txBody>
          <a:bodyPr wrap="square">
            <a:spAutoFit/>
          </a:bodyPr>
          <a:lstStyle/>
          <a:p>
            <a:pPr>
              <a:defRPr sz="1300"/>
            </a:pPr>
            <a:r>
              <a:t>• Không cần gõ lệnh terminal:</a:t>
            </a:r>
            <a:br/>
            <a:r>
              <a:t>  Toàn bộ lệnh mine, inspect, golden, detail, --limit được tích hợp thành các nút bấm đồ họa thân thiện.</a:t>
            </a:r>
            <a:br/>
            <a:br/>
            <a:r>
              <a:t>• Tùy chọn giới hạn giao dịch (Tx Limit):</a:t>
            </a:r>
            <a:br/>
            <a:r>
              <a:t>  Hỗ trợ ComboBox có thể gõ tùy ý (Editable) với tính năng phân tích cú pháp thông minh (5,000; 10,000; 50,000; hoặc số bất kỳ).</a:t>
            </a:r>
            <a:br/>
            <a:br/>
            <a:r>
              <a:t>• Đa luồng an toàn:</a:t>
            </a:r>
            <a:br/>
            <a:r>
              <a:t>  Tác vụ khai phá chạy trên background thread, có thanh tiến độ ProgressBar và hủy bỏ an toàn.</a:t>
            </a:r>
          </a:p>
        </p:txBody>
      </p:sp>
      <p:sp>
        <p:nvSpPr>
          <p:cNvPr id="8" name="Rounded Rectangle 7"/>
          <p:cNvSpPr/>
          <p:nvPr/>
        </p:nvSpPr>
        <p:spPr>
          <a:xfrm>
            <a:off x="6217920" y="1280160"/>
            <a:ext cx="5212080" cy="5029200"/>
          </a:xfrm>
          <a:prstGeom prst="roundRect">
            <a:avLst/>
          </a:prstGeom>
          <a:solidFill>
            <a:srgbClr val="FFFFFF"/>
          </a:solidFill>
          <a:ln w="19050">
            <a:solidFill>
              <a:srgbClr val="0E625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400" b="1">
                <a:solidFill>
                  <a:srgbClr val="1F4E79"/>
                </a:solidFill>
                <a:latin typeface="Arial"/>
              </a:defRPr>
            </a:pPr>
            <a:r>
              <a:t>📋 100% Giao Diện Bảng Native TableView</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300"/>
            </a:pPr>
            <a:r>
              <a:t>• Loại bỏ hoàn toàn màn hình Console:</a:t>
            </a:r>
            <a:br/>
            <a:r>
              <a:t>  Không còn tình trạng lệch font hay vỡ khung Unicode trên macOS.</a:t>
            </a:r>
            <a:br/>
            <a:br/>
            <a:r>
              <a:t>• 3 Chế độ xem độc lập chuyển đổi linh hoạt:</a:t>
            </a:r>
            <a:br/>
            <a:r>
              <a:t>  1. Bảng Mẫu Khai Phá (Patterns Table): Cột STT, Itemset X (in đậm tím), DO(X), Support, Độ dài |X|, TIDs.</a:t>
            </a:r>
            <a:br/>
            <a:r>
              <a:t>  2. Thống Kê Inspect (Cards &amp; Table): Tổng quan dữ liệu + Bảng Top-10 mục xuất hiện nhiều nhất.</a:t>
            </a:r>
            <a:br/>
            <a:r>
              <a:t>  3. Ma Trận Golden Tests: Bảng đối soát TC1–TC8 với nhãn xanh ✅ PASS 100%.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7. Kết Quả Thực Nghiệm &amp; Ma Trận Golden Tests (TC1–TC8)</a:t>
            </a:r>
          </a:p>
        </p:txBody>
      </p:sp>
      <p:sp>
        <p:nvSpPr>
          <p:cNvPr id="5" name="Rounded Rectangle 4"/>
          <p:cNvSpPr/>
          <p:nvPr/>
        </p:nvSpPr>
        <p:spPr>
          <a:xfrm>
            <a:off x="731520" y="1280160"/>
            <a:ext cx="384048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3474720" cy="365760"/>
          </a:xfrm>
          <a:prstGeom prst="rect">
            <a:avLst/>
          </a:prstGeom>
          <a:noFill/>
        </p:spPr>
        <p:txBody>
          <a:bodyPr wrap="none">
            <a:spAutoFit/>
          </a:bodyPr>
          <a:lstStyle/>
          <a:p>
            <a:pPr>
              <a:defRPr sz="1400" b="1">
                <a:solidFill>
                  <a:srgbClr val="1F4E79"/>
                </a:solidFill>
                <a:latin typeface="Arial"/>
              </a:defRPr>
            </a:pPr>
            <a:r>
              <a:t>✅ Kết Quả Kiểm Thử Tự Động</a:t>
            </a:r>
          </a:p>
        </p:txBody>
      </p:sp>
      <p:sp>
        <p:nvSpPr>
          <p:cNvPr id="7" name="TextBox 6"/>
          <p:cNvSpPr txBox="1"/>
          <p:nvPr/>
        </p:nvSpPr>
        <p:spPr>
          <a:xfrm>
            <a:off x="914400" y="1828800"/>
            <a:ext cx="3474720" cy="4206240"/>
          </a:xfrm>
          <a:prstGeom prst="rect">
            <a:avLst/>
          </a:prstGeom>
          <a:noFill/>
        </p:spPr>
        <p:txBody>
          <a:bodyPr wrap="square">
            <a:spAutoFit/>
          </a:bodyPr>
          <a:lstStyle/>
          <a:p>
            <a:pPr>
              <a:defRPr sz="1300"/>
            </a:pPr>
            <a:r>
              <a:t>• 38/38 Unit &amp; Integration Tests PASS (100% BUILD SUCCESS)</a:t>
            </a:r>
            <a:br/>
            <a:br/>
            <a:r>
              <a:t>• Lab1VerificationTest (8 tests)</a:t>
            </a:r>
            <a:br/>
            <a:r>
              <a:t>• DHOPMEngineTest (10 tests)</a:t>
            </a:r>
            <a:br/>
            <a:r>
              <a:t>• BridgeEngineTest (10 tests)</a:t>
            </a:r>
            <a:br/>
            <a:r>
              <a:t>• TsonBridgeIntegration (6 tests)</a:t>
            </a:r>
            <a:br/>
            <a:r>
              <a:t>• TsonToolsService (4 tests)</a:t>
            </a:r>
            <a:br/>
            <a:br/>
            <a:r>
              <a:t>★ Sai số toán học: Δ &lt; 0.0001 (Khớp tuyệt đối bài báo gốc!)</a:t>
            </a:r>
          </a:p>
        </p:txBody>
      </p:sp>
      <p:sp>
        <p:nvSpPr>
          <p:cNvPr id="8" name="Rounded Rectangle 7"/>
          <p:cNvSpPr/>
          <p:nvPr/>
        </p:nvSpPr>
        <p:spPr>
          <a:xfrm>
            <a:off x="4846320" y="1280160"/>
            <a:ext cx="658368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0" y="1417320"/>
            <a:ext cx="6217920" cy="365760"/>
          </a:xfrm>
          <a:prstGeom prst="rect">
            <a:avLst/>
          </a:prstGeom>
          <a:noFill/>
        </p:spPr>
        <p:txBody>
          <a:bodyPr wrap="none">
            <a:spAutoFit/>
          </a:bodyPr>
          <a:lstStyle/>
          <a:p>
            <a:pPr>
              <a:defRPr sz="1400" b="1">
                <a:solidFill>
                  <a:srgbClr val="1F4E79"/>
                </a:solidFill>
                <a:latin typeface="Arial"/>
              </a:defRPr>
            </a:pPr>
            <a:r>
              <a:t>🎯 Ma Trận Đối Soát 8 Test Cases Chuẩn</a:t>
            </a:r>
          </a:p>
        </p:txBody>
      </p:sp>
      <p:graphicFrame>
        <p:nvGraphicFramePr>
          <p:cNvPr id="10" name="Table 9"/>
          <p:cNvGraphicFramePr>
            <a:graphicFrameLocks noGrp="1"/>
          </p:cNvGraphicFramePr>
          <p:nvPr/>
        </p:nvGraphicFramePr>
        <p:xfrm>
          <a:off x="5029200" y="1828800"/>
          <a:ext cx="6217920" cy="4206240"/>
        </p:xfrm>
        <a:graphic>
          <a:graphicData uri="http://schemas.openxmlformats.org/drawingml/2006/table">
            <a:tbl>
              <a:tblPr firstRow="1" bandRow="1">
                <a:tableStyleId>{5C22544A-7EE6-4342-B048-85BDC9FD1C3A}</a:tableStyleId>
              </a:tblPr>
              <a:tblGrid>
                <a:gridCol w="1005840"/>
                <a:gridCol w="914400"/>
                <a:gridCol w="1005840"/>
                <a:gridCol w="1920240"/>
                <a:gridCol w="1371600"/>
              </a:tblGrid>
              <a:tr h="467360">
                <a:tc>
                  <a:txBody>
                    <a:bodyPr/>
                    <a:lstStyle/>
                    <a:p>
                      <a:pPr algn="ctr"/>
                      <a:r>
                        <a:rPr b="1" sz="1100">
                          <a:solidFill>
                            <a:srgbClr val="FFFFFF"/>
                          </a:solidFill>
                          <a:latin typeface="Arial"/>
                        </a:rPr>
                        <a:t>Mã TC</a:t>
                      </a:r>
                    </a:p>
                  </a:txBody>
                  <a:tcPr>
                    <a:solidFill>
                      <a:srgbClr val="1F4E79"/>
                    </a:solidFill>
                  </a:tcPr>
                </a:tc>
                <a:tc>
                  <a:txBody>
                    <a:bodyPr/>
                    <a:lstStyle/>
                    <a:p>
                      <a:pPr algn="ctr"/>
                      <a:r>
                        <a:rPr b="1" sz="1100">
                          <a:solidFill>
                            <a:srgbClr val="FFFFFF"/>
                          </a:solidFill>
                          <a:latin typeface="Arial"/>
                        </a:rPr>
                        <a:t>Hệ số f</a:t>
                      </a:r>
                    </a:p>
                  </a:txBody>
                  <a:tcPr>
                    <a:solidFill>
                      <a:srgbClr val="1F4E79"/>
                    </a:solidFill>
                  </a:tcPr>
                </a:tc>
                <a:tc>
                  <a:txBody>
                    <a:bodyPr/>
                    <a:lstStyle/>
                    <a:p>
                      <a:pPr algn="ctr"/>
                      <a:r>
                        <a:rPr b="1" sz="1100">
                          <a:solidFill>
                            <a:srgbClr val="FFFFFF"/>
                          </a:solidFill>
                          <a:latin typeface="Arial"/>
                        </a:rPr>
                        <a:t>Ngưỡng ∂</a:t>
                      </a:r>
                    </a:p>
                  </a:txBody>
                  <a:tcPr>
                    <a:solidFill>
                      <a:srgbClr val="1F4E79"/>
                    </a:solidFill>
                  </a:tcPr>
                </a:tc>
                <a:tc>
                  <a:txBody>
                    <a:bodyPr/>
                    <a:lstStyle/>
                    <a:p>
                      <a:pPr algn="ctr"/>
                      <a:r>
                        <a:rPr b="1" sz="1100">
                          <a:solidFill>
                            <a:srgbClr val="FFFFFF"/>
                          </a:solidFill>
                          <a:latin typeface="Arial"/>
                        </a:rPr>
                        <a:t>Kết Quả Khai Phá</a:t>
                      </a:r>
                    </a:p>
                  </a:txBody>
                  <a:tcPr>
                    <a:solidFill>
                      <a:srgbClr val="1F4E79"/>
                    </a:solidFill>
                  </a:tcPr>
                </a:tc>
                <a:tc>
                  <a:txBody>
                    <a:bodyPr/>
                    <a:lstStyle/>
                    <a:p>
                      <a:pPr algn="ctr"/>
                      <a:r>
                        <a:rPr b="1" sz="1100">
                          <a:solidFill>
                            <a:srgbClr val="FFFFFF"/>
                          </a:solidFill>
                          <a:latin typeface="Arial"/>
                        </a:rPr>
                        <a:t>Trạng Thái</a:t>
                      </a:r>
                    </a:p>
                  </a:txBody>
                  <a:tcPr>
                    <a:solidFill>
                      <a:srgbClr val="1F4E79"/>
                    </a:solidFill>
                  </a:tcPr>
                </a:tc>
              </a:tr>
              <a:tr h="467360">
                <a:tc>
                  <a:txBody>
                    <a:bodyPr/>
                    <a:lstStyle/>
                    <a:p>
                      <a:pPr algn="ctr"/>
                      <a:r>
                        <a:rPr sz="1000">
                          <a:latin typeface="Arial"/>
                        </a:rPr>
                        <a:t>TC1</a:t>
                      </a:r>
                    </a:p>
                  </a:txBody>
                  <a:tcPr/>
                </a:tc>
                <a:tc>
                  <a:txBody>
                    <a:bodyPr/>
                    <a:lstStyle/>
                    <a:p>
                      <a:pPr algn="ctr"/>
                      <a:r>
                        <a:rPr sz="1000">
                          <a:latin typeface="Arial"/>
                        </a:rPr>
                        <a:t>0.90</a:t>
                      </a:r>
                    </a:p>
                  </a:txBody>
                  <a:tcPr/>
                </a:tc>
                <a:tc>
                  <a:txBody>
                    <a:bodyPr/>
                    <a:lstStyle/>
                    <a:p>
                      <a:pPr algn="ctr"/>
                      <a:r>
                        <a:rPr sz="1000">
                          <a:latin typeface="Arial"/>
                        </a:rPr>
                        <a:t>15% (1.2)</a:t>
                      </a:r>
                    </a:p>
                  </a:txBody>
                  <a:tcPr/>
                </a:tc>
                <a:tc>
                  <a:txBody>
                    <a:bodyPr/>
                    <a:lstStyle/>
                    <a:p>
                      <a:pPr algn="ctr"/>
                      <a:r>
                        <a:rPr sz="1000">
                          <a:latin typeface="Arial"/>
                        </a:rPr>
                        <a:t>2 mẫu: {AE}, {F}</a:t>
                      </a:r>
                    </a:p>
                  </a:txBody>
                  <a:tcPr/>
                </a:tc>
                <a:tc>
                  <a:txBody>
                    <a:bodyPr/>
                    <a:lstStyle/>
                    <a:p>
                      <a:pPr algn="ctr"/>
                      <a:r>
                        <a:rPr sz="1000" b="1">
                          <a:solidFill>
                            <a:srgbClr val="0E6251"/>
                          </a:solidFill>
                          <a:latin typeface="Arial"/>
                        </a:rPr>
                        <a:t>✅ PASS 100%</a:t>
                      </a:r>
                    </a:p>
                  </a:txBody>
                  <a:tcPr/>
                </a:tc>
              </a:tr>
              <a:tr h="467360">
                <a:tc>
                  <a:txBody>
                    <a:bodyPr/>
                    <a:lstStyle/>
                    <a:p>
                      <a:pPr algn="ctr"/>
                      <a:r>
                        <a:rPr sz="1000">
                          <a:latin typeface="Arial"/>
                        </a:rPr>
                        <a:t>TC2</a:t>
                      </a:r>
                    </a:p>
                  </a:txBody>
                  <a:tcPr/>
                </a:tc>
                <a:tc>
                  <a:txBody>
                    <a:bodyPr/>
                    <a:lstStyle/>
                    <a:p>
                      <a:pPr algn="ctr"/>
                      <a:r>
                        <a:rPr sz="1000">
                          <a:latin typeface="Arial"/>
                        </a:rPr>
                        <a:t>0.90</a:t>
                      </a:r>
                    </a:p>
                  </a:txBody>
                  <a:tcPr/>
                </a:tc>
                <a:tc>
                  <a:txBody>
                    <a:bodyPr/>
                    <a:lstStyle/>
                    <a:p>
                      <a:pPr algn="ctr"/>
                      <a:r>
                        <a:rPr sz="1000">
                          <a:latin typeface="Arial"/>
                        </a:rPr>
                        <a:t>20% (1.6)</a:t>
                      </a:r>
                    </a:p>
                  </a:txBody>
                  <a:tcPr/>
                </a:tc>
                <a:tc>
                  <a:txBody>
                    <a:bodyPr/>
                    <a:lstStyle/>
                    <a:p>
                      <a:pPr algn="ctr"/>
                      <a:r>
                        <a:rPr sz="1000">
                          <a:latin typeface="Arial"/>
                        </a:rPr>
                        <a:t>0 mẫu (Rỗng)</a:t>
                      </a:r>
                    </a:p>
                  </a:txBody>
                  <a:tcPr/>
                </a:tc>
                <a:tc>
                  <a:txBody>
                    <a:bodyPr/>
                    <a:lstStyle/>
                    <a:p>
                      <a:pPr algn="ctr"/>
                      <a:r>
                        <a:rPr sz="1000" b="1">
                          <a:solidFill>
                            <a:srgbClr val="0E6251"/>
                          </a:solidFill>
                          <a:latin typeface="Arial"/>
                        </a:rPr>
                        <a:t>✅ PASS 100%</a:t>
                      </a:r>
                    </a:p>
                  </a:txBody>
                  <a:tcPr/>
                </a:tc>
              </a:tr>
              <a:tr h="467360">
                <a:tc>
                  <a:txBody>
                    <a:bodyPr/>
                    <a:lstStyle/>
                    <a:p>
                      <a:pPr algn="ctr"/>
                      <a:r>
                        <a:rPr sz="1000">
                          <a:latin typeface="Arial"/>
                        </a:rPr>
                        <a:t>TC3</a:t>
                      </a:r>
                    </a:p>
                  </a:txBody>
                  <a:tcPr/>
                </a:tc>
                <a:tc>
                  <a:txBody>
                    <a:bodyPr/>
                    <a:lstStyle/>
                    <a:p>
                      <a:pPr algn="ctr"/>
                      <a:r>
                        <a:rPr sz="1000">
                          <a:latin typeface="Arial"/>
                        </a:rPr>
                        <a:t>0.90</a:t>
                      </a:r>
                    </a:p>
                  </a:txBody>
                  <a:tcPr/>
                </a:tc>
                <a:tc>
                  <a:txBody>
                    <a:bodyPr/>
                    <a:lstStyle/>
                    <a:p>
                      <a:pPr algn="ctr"/>
                      <a:r>
                        <a:rPr sz="1000">
                          <a:latin typeface="Arial"/>
                        </a:rPr>
                        <a:t>10% (0.8)</a:t>
                      </a:r>
                    </a:p>
                  </a:txBody>
                  <a:tcPr/>
                </a:tc>
                <a:tc>
                  <a:txBody>
                    <a:bodyPr/>
                    <a:lstStyle/>
                    <a:p>
                      <a:pPr algn="ctr"/>
                      <a:r>
                        <a:rPr sz="1000">
                          <a:latin typeface="Arial"/>
                        </a:rPr>
                        <a:t>6 mẫu: {AE, F, BE...}</a:t>
                      </a:r>
                    </a:p>
                  </a:txBody>
                  <a:tcPr/>
                </a:tc>
                <a:tc>
                  <a:txBody>
                    <a:bodyPr/>
                    <a:lstStyle/>
                    <a:p>
                      <a:pPr algn="ctr"/>
                      <a:r>
                        <a:rPr sz="1000" b="1">
                          <a:solidFill>
                            <a:srgbClr val="0E6251"/>
                          </a:solidFill>
                          <a:latin typeface="Arial"/>
                        </a:rPr>
                        <a:t>✅ PASS 100%</a:t>
                      </a:r>
                    </a:p>
                  </a:txBody>
                  <a:tcPr/>
                </a:tc>
              </a:tr>
              <a:tr h="467360">
                <a:tc>
                  <a:txBody>
                    <a:bodyPr/>
                    <a:lstStyle/>
                    <a:p>
                      <a:pPr algn="ctr"/>
                      <a:r>
                        <a:rPr sz="1000">
                          <a:latin typeface="Arial"/>
                        </a:rPr>
                        <a:t>TC4</a:t>
                      </a:r>
                    </a:p>
                  </a:txBody>
                  <a:tcPr/>
                </a:tc>
                <a:tc>
                  <a:txBody>
                    <a:bodyPr/>
                    <a:lstStyle/>
                    <a:p>
                      <a:pPr algn="ctr"/>
                      <a:r>
                        <a:rPr sz="1000">
                          <a:latin typeface="Arial"/>
                        </a:rPr>
                        <a:t>0.95</a:t>
                      </a:r>
                    </a:p>
                  </a:txBody>
                  <a:tcPr/>
                </a:tc>
                <a:tc>
                  <a:txBody>
                    <a:bodyPr/>
                    <a:lstStyle/>
                    <a:p>
                      <a:pPr algn="ctr"/>
                      <a:r>
                        <a:rPr sz="1000">
                          <a:latin typeface="Arial"/>
                        </a:rPr>
                        <a:t>15% (1.2)</a:t>
                      </a:r>
                    </a:p>
                  </a:txBody>
                  <a:tcPr/>
                </a:tc>
                <a:tc>
                  <a:txBody>
                    <a:bodyPr/>
                    <a:lstStyle/>
                    <a:p>
                      <a:pPr algn="ctr"/>
                      <a:r>
                        <a:rPr sz="1000">
                          <a:latin typeface="Arial"/>
                        </a:rPr>
                        <a:t>4 mẫu</a:t>
                      </a:r>
                    </a:p>
                  </a:txBody>
                  <a:tcPr/>
                </a:tc>
                <a:tc>
                  <a:txBody>
                    <a:bodyPr/>
                    <a:lstStyle/>
                    <a:p>
                      <a:pPr algn="ctr"/>
                      <a:r>
                        <a:rPr sz="1000" b="1">
                          <a:solidFill>
                            <a:srgbClr val="0E6251"/>
                          </a:solidFill>
                          <a:latin typeface="Arial"/>
                        </a:rPr>
                        <a:t>✅ PASS 100%</a:t>
                      </a:r>
                    </a:p>
                  </a:txBody>
                  <a:tcPr/>
                </a:tc>
              </a:tr>
              <a:tr h="467360">
                <a:tc>
                  <a:txBody>
                    <a:bodyPr/>
                    <a:lstStyle/>
                    <a:p>
                      <a:pPr algn="ctr"/>
                      <a:r>
                        <a:rPr sz="1000">
                          <a:latin typeface="Arial"/>
                        </a:rPr>
                        <a:t>TC5</a:t>
                      </a:r>
                    </a:p>
                  </a:txBody>
                  <a:tcPr/>
                </a:tc>
                <a:tc>
                  <a:txBody>
                    <a:bodyPr/>
                    <a:lstStyle/>
                    <a:p>
                      <a:pPr algn="ctr"/>
                      <a:r>
                        <a:rPr sz="1000">
                          <a:latin typeface="Arial"/>
                        </a:rPr>
                        <a:t>1.00</a:t>
                      </a:r>
                    </a:p>
                  </a:txBody>
                  <a:tcPr/>
                </a:tc>
                <a:tc>
                  <a:txBody>
                    <a:bodyPr/>
                    <a:lstStyle/>
                    <a:p>
                      <a:pPr algn="ctr"/>
                      <a:r>
                        <a:rPr sz="1000">
                          <a:latin typeface="Arial"/>
                        </a:rPr>
                        <a:t>15% (1.2)</a:t>
                      </a:r>
                    </a:p>
                  </a:txBody>
                  <a:tcPr/>
                </a:tc>
                <a:tc>
                  <a:txBody>
                    <a:bodyPr/>
                    <a:lstStyle/>
                    <a:p>
                      <a:pPr algn="ctr"/>
                      <a:r>
                        <a:rPr sz="1000">
                          <a:latin typeface="Arial"/>
                        </a:rPr>
                        <a:t>9 mẫu: {AE, F, CD...}</a:t>
                      </a:r>
                    </a:p>
                  </a:txBody>
                  <a:tcPr/>
                </a:tc>
                <a:tc>
                  <a:txBody>
                    <a:bodyPr/>
                    <a:lstStyle/>
                    <a:p>
                      <a:pPr algn="ctr"/>
                      <a:r>
                        <a:rPr sz="1000" b="1">
                          <a:solidFill>
                            <a:srgbClr val="0E6251"/>
                          </a:solidFill>
                          <a:latin typeface="Arial"/>
                        </a:rPr>
                        <a:t>✅ PASS 100%</a:t>
                      </a:r>
                    </a:p>
                  </a:txBody>
                  <a:tcPr/>
                </a:tc>
              </a:tr>
              <a:tr h="467360">
                <a:tc>
                  <a:txBody>
                    <a:bodyPr/>
                    <a:lstStyle/>
                    <a:p>
                      <a:pPr algn="ctr"/>
                      <a:r>
                        <a:rPr sz="1000">
                          <a:latin typeface="Arial"/>
                        </a:rPr>
                        <a:t>TC6</a:t>
                      </a:r>
                    </a:p>
                  </a:txBody>
                  <a:tcPr/>
                </a:tc>
                <a:tc>
                  <a:txBody>
                    <a:bodyPr/>
                    <a:lstStyle/>
                    <a:p>
                      <a:pPr algn="ctr"/>
                      <a:r>
                        <a:rPr sz="1000">
                          <a:latin typeface="Arial"/>
                        </a:rPr>
                        <a:t>1.00</a:t>
                      </a:r>
                    </a:p>
                  </a:txBody>
                  <a:tcPr/>
                </a:tc>
                <a:tc>
                  <a:txBody>
                    <a:bodyPr/>
                    <a:lstStyle/>
                    <a:p>
                      <a:pPr algn="ctr"/>
                      <a:r>
                        <a:rPr sz="1000">
                          <a:latin typeface="Arial"/>
                        </a:rPr>
                        <a:t>20% (1.6)</a:t>
                      </a:r>
                    </a:p>
                  </a:txBody>
                  <a:tcPr/>
                </a:tc>
                <a:tc>
                  <a:txBody>
                    <a:bodyPr/>
                    <a:lstStyle/>
                    <a:p>
                      <a:pPr algn="ctr"/>
                      <a:r>
                        <a:rPr sz="1000">
                          <a:latin typeface="Arial"/>
                        </a:rPr>
                        <a:t>4 mẫu: {AE, F, CD, DE}</a:t>
                      </a:r>
                    </a:p>
                  </a:txBody>
                  <a:tcPr/>
                </a:tc>
                <a:tc>
                  <a:txBody>
                    <a:bodyPr/>
                    <a:lstStyle/>
                    <a:p>
                      <a:pPr algn="ctr"/>
                      <a:r>
                        <a:rPr sz="1000" b="1">
                          <a:solidFill>
                            <a:srgbClr val="0E6251"/>
                          </a:solidFill>
                          <a:latin typeface="Arial"/>
                        </a:rPr>
                        <a:t>✅ PASS 100%</a:t>
                      </a:r>
                    </a:p>
                  </a:txBody>
                  <a:tcPr/>
                </a:tc>
              </a:tr>
              <a:tr h="467360">
                <a:tc>
                  <a:txBody>
                    <a:bodyPr/>
                    <a:lstStyle/>
                    <a:p>
                      <a:pPr algn="ctr"/>
                      <a:r>
                        <a:rPr sz="1000">
                          <a:latin typeface="Arial"/>
                        </a:rPr>
                        <a:t>TC7</a:t>
                      </a:r>
                    </a:p>
                  </a:txBody>
                  <a:tcPr/>
                </a:tc>
                <a:tc>
                  <a:txBody>
                    <a:bodyPr/>
                    <a:lstStyle/>
                    <a:p>
                      <a:pPr algn="ctr"/>
                      <a:r>
                        <a:rPr sz="1000">
                          <a:latin typeface="Arial"/>
                        </a:rPr>
                        <a:t>0.80</a:t>
                      </a:r>
                    </a:p>
                  </a:txBody>
                  <a:tcPr/>
                </a:tc>
                <a:tc>
                  <a:txBody>
                    <a:bodyPr/>
                    <a:lstStyle/>
                    <a:p>
                      <a:pPr algn="ctr"/>
                      <a:r>
                        <a:rPr sz="1000">
                          <a:latin typeface="Arial"/>
                        </a:rPr>
                        <a:t>15% (1.2)</a:t>
                      </a:r>
                    </a:p>
                  </a:txBody>
                  <a:tcPr/>
                </a:tc>
                <a:tc>
                  <a:txBody>
                    <a:bodyPr/>
                    <a:lstStyle/>
                    <a:p>
                      <a:pPr algn="ctr"/>
                      <a:r>
                        <a:rPr sz="1000">
                          <a:latin typeface="Arial"/>
                        </a:rPr>
                        <a:t>1 mẫu: {AE}</a:t>
                      </a:r>
                    </a:p>
                  </a:txBody>
                  <a:tcPr/>
                </a:tc>
                <a:tc>
                  <a:txBody>
                    <a:bodyPr/>
                    <a:lstStyle/>
                    <a:p>
                      <a:pPr algn="ctr"/>
                      <a:r>
                        <a:rPr sz="1000" b="1">
                          <a:solidFill>
                            <a:srgbClr val="0E6251"/>
                          </a:solidFill>
                          <a:latin typeface="Arial"/>
                        </a:rPr>
                        <a:t>✅ PASS 100%</a:t>
                      </a:r>
                    </a:p>
                  </a:txBody>
                  <a:tcPr/>
                </a:tc>
              </a:tr>
              <a:tr h="467360">
                <a:tc>
                  <a:txBody>
                    <a:bodyPr/>
                    <a:lstStyle/>
                    <a:p>
                      <a:pPr algn="ctr"/>
                      <a:r>
                        <a:rPr sz="1000">
                          <a:latin typeface="Arial"/>
                        </a:rPr>
                        <a:t>TC8</a:t>
                      </a:r>
                    </a:p>
                  </a:txBody>
                  <a:tcPr/>
                </a:tc>
                <a:tc>
                  <a:txBody>
                    <a:bodyPr/>
                    <a:lstStyle/>
                    <a:p>
                      <a:pPr algn="ctr"/>
                      <a:r>
                        <a:rPr sz="1000">
                          <a:latin typeface="Arial"/>
                        </a:rPr>
                        <a:t>0.85</a:t>
                      </a:r>
                    </a:p>
                  </a:txBody>
                  <a:tcPr/>
                </a:tc>
                <a:tc>
                  <a:txBody>
                    <a:bodyPr/>
                    <a:lstStyle/>
                    <a:p>
                      <a:pPr algn="ctr"/>
                      <a:r>
                        <a:rPr sz="1000">
                          <a:latin typeface="Arial"/>
                        </a:rPr>
                        <a:t>15% (1.2)</a:t>
                      </a:r>
                    </a:p>
                  </a:txBody>
                  <a:tcPr/>
                </a:tc>
                <a:tc>
                  <a:txBody>
                    <a:bodyPr/>
                    <a:lstStyle/>
                    <a:p>
                      <a:pPr algn="ctr"/>
                      <a:r>
                        <a:rPr sz="1000">
                          <a:latin typeface="Arial"/>
                        </a:rPr>
                        <a:t>2 mẫu: {AE}, {F}</a:t>
                      </a:r>
                    </a:p>
                  </a:txBody>
                  <a:tcPr/>
                </a:tc>
                <a:tc>
                  <a:txBody>
                    <a:bodyPr/>
                    <a:lstStyle/>
                    <a:p>
                      <a:pPr algn="ctr"/>
                      <a:r>
                        <a:rPr sz="1000" b="1">
                          <a:solidFill>
                            <a:srgbClr val="0E6251"/>
                          </a:solidFill>
                          <a:latin typeface="Arial"/>
                        </a:rPr>
                        <a:t>✅ PASS 100%</a:t>
                      </a:r>
                    </a:p>
                  </a:txBody>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8. Thử Nghiệm Dataset FIMI &amp; Kịch Bản Demo 3 Phút</a:t>
            </a:r>
          </a:p>
        </p:txBody>
      </p:sp>
      <p:sp>
        <p:nvSpPr>
          <p:cNvPr id="5" name="Rounded Rectangle 4"/>
          <p:cNvSpPr/>
          <p:nvPr/>
        </p:nvSpPr>
        <p:spPr>
          <a:xfrm>
            <a:off x="731520" y="1280160"/>
            <a:ext cx="512064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754880" cy="365760"/>
          </a:xfrm>
          <a:prstGeom prst="rect">
            <a:avLst/>
          </a:prstGeom>
          <a:noFill/>
        </p:spPr>
        <p:txBody>
          <a:bodyPr wrap="none">
            <a:spAutoFit/>
          </a:bodyPr>
          <a:lstStyle/>
          <a:p>
            <a:pPr>
              <a:defRPr sz="1400" b="1">
                <a:solidFill>
                  <a:srgbClr val="1F4E79"/>
                </a:solidFill>
                <a:latin typeface="Arial"/>
              </a:defRPr>
            </a:pPr>
            <a:r>
              <a:t>📦 Thử Nghiệm Dataset Chuẩn FIMI</a:t>
            </a:r>
          </a:p>
        </p:txBody>
      </p:sp>
      <p:sp>
        <p:nvSpPr>
          <p:cNvPr id="7" name="TextBox 6"/>
          <p:cNvSpPr txBox="1"/>
          <p:nvPr/>
        </p:nvSpPr>
        <p:spPr>
          <a:xfrm>
            <a:off x="914400" y="1828800"/>
            <a:ext cx="4754880" cy="4206240"/>
          </a:xfrm>
          <a:prstGeom prst="rect">
            <a:avLst/>
          </a:prstGeom>
          <a:noFill/>
        </p:spPr>
        <p:txBody>
          <a:bodyPr wrap="square">
            <a:spAutoFit/>
          </a:bodyPr>
          <a:lstStyle/>
          <a:p>
            <a:pPr>
              <a:defRPr sz="1250"/>
            </a:pPr>
            <a:r>
              <a:t>• Tích hợp sẵn 7 tệp dữ liệu FIMI quốc tế trong thư mục dataset/:</a:t>
            </a:r>
            <a:br/>
            <a:r>
              <a:t>  - chess.dat (3,196 tx - Dày đặc)</a:t>
            </a:r>
            <a:br/>
            <a:r>
              <a:t>  - mushroom.dat (8,124 tx - Dày đặc)</a:t>
            </a:r>
            <a:br/>
            <a:r>
              <a:t>  - connect.dat (67,557 tx - Rất dày)</a:t>
            </a:r>
            <a:br/>
            <a:r>
              <a:t>  - retail.dat (88,162 tx - Thưa thương mại)</a:t>
            </a:r>
            <a:br/>
            <a:r>
              <a:t>  - pumsb.dat (49,046 tx - Chiều dài lớn)</a:t>
            </a:r>
            <a:br/>
            <a:br/>
            <a:r>
              <a:t>• Khả năng chịu tải:</a:t>
            </a:r>
            <a:br/>
            <a:r>
              <a:t>  Động cơ xử lý hàng vạn giao dịch trong vài giây, hiển thị trực quan các mục phổ biến nhất.</a:t>
            </a:r>
          </a:p>
        </p:txBody>
      </p:sp>
      <p:sp>
        <p:nvSpPr>
          <p:cNvPr id="8" name="Rounded Rectangle 7"/>
          <p:cNvSpPr/>
          <p:nvPr/>
        </p:nvSpPr>
        <p:spPr>
          <a:xfrm>
            <a:off x="6217920" y="1280160"/>
            <a:ext cx="521208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400" b="1">
                <a:solidFill>
                  <a:srgbClr val="1F4E79"/>
                </a:solidFill>
                <a:latin typeface="Arial"/>
              </a:defRPr>
            </a:pPr>
            <a:r>
              <a:t>🎤 Kịch Bản Demo 3 Phút Ghi Điểm</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250"/>
            </a:pPr>
            <a:r>
              <a:t>1. Giới thiệu (30s):</a:t>
            </a:r>
            <a:br/>
            <a:r>
              <a:t>   Mở ứng dụng, giới thiệu bài toán Occupancy và thẻ DHO-List.</a:t>
            </a:r>
            <a:br/>
            <a:br/>
            <a:r>
              <a:t>2. Chứng minh hệ số f (45s):</a:t>
            </a:r>
            <a:br/>
            <a:r>
              <a:t>   Kéo f từ 1.0 về 0.9 → Chỉ cho Thầy Cô thấy kết quả giảm từ 9 mẫu xuống 2 mẫu {AE, F}.</a:t>
            </a:r>
            <a:br/>
            <a:br/>
            <a:r>
              <a:t>3. Demo One-Scan Stream (45s):</a:t>
            </a:r>
            <a:br/>
            <a:r>
              <a:t>   Bấm '➕ Bơm từng giao dịch' thêm T9={A,E} → cập nhật ngay không cần đọc lại T1..T8.</a:t>
            </a:r>
            <a:br/>
            <a:br/>
            <a:r>
              <a:t>4. Demo Tab 4 (30s):</a:t>
            </a:r>
            <a:br/>
            <a:r>
              <a:t>   Bấm '🎯 Golden Tests' và '🔍 Thống Kê' trên tập dữ liệu FIMI.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9. Kết Luận &amp; Hướng Phát Triển</a:t>
            </a:r>
          </a:p>
        </p:txBody>
      </p:sp>
      <p:sp>
        <p:nvSpPr>
          <p:cNvPr id="5" name="Rounded Rectangle 4"/>
          <p:cNvSpPr/>
          <p:nvPr/>
        </p:nvSpPr>
        <p:spPr>
          <a:xfrm>
            <a:off x="731520" y="1280160"/>
            <a:ext cx="5120640" cy="5029200"/>
          </a:xfrm>
          <a:prstGeom prst="roundRect">
            <a:avLst/>
          </a:prstGeom>
          <a:solidFill>
            <a:srgbClr val="FFFFFF"/>
          </a:solidFill>
          <a:ln w="19050">
            <a:solidFill>
              <a:srgbClr val="0E625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754880" cy="365760"/>
          </a:xfrm>
          <a:prstGeom prst="rect">
            <a:avLst/>
          </a:prstGeom>
          <a:noFill/>
        </p:spPr>
        <p:txBody>
          <a:bodyPr wrap="none">
            <a:spAutoFit/>
          </a:bodyPr>
          <a:lstStyle/>
          <a:p>
            <a:pPr>
              <a:defRPr sz="1400" b="1">
                <a:solidFill>
                  <a:srgbClr val="1F4E79"/>
                </a:solidFill>
                <a:latin typeface="Arial"/>
              </a:defRPr>
            </a:pPr>
            <a:r>
              <a:t>🏆 Kết Quả Đạt Được</a:t>
            </a:r>
          </a:p>
        </p:txBody>
      </p:sp>
      <p:sp>
        <p:nvSpPr>
          <p:cNvPr id="7" name="TextBox 6"/>
          <p:cNvSpPr txBox="1"/>
          <p:nvPr/>
        </p:nvSpPr>
        <p:spPr>
          <a:xfrm>
            <a:off x="914400" y="1828800"/>
            <a:ext cx="4754880" cy="4206240"/>
          </a:xfrm>
          <a:prstGeom prst="rect">
            <a:avLst/>
          </a:prstGeom>
          <a:noFill/>
        </p:spPr>
        <p:txBody>
          <a:bodyPr wrap="square">
            <a:spAutoFit/>
          </a:bodyPr>
          <a:lstStyle/>
          <a:p>
            <a:pPr>
              <a:defRPr sz="1300"/>
            </a:pPr>
            <a:r>
              <a:t>• Hoàn thành 100% mục tiêu đề ra:</a:t>
            </a:r>
            <a:br/>
            <a:r>
              <a:t>  Làm chủ lý thuyết bài báo quốc tế EAAI 2026 và cài đặt chính xác tuyệt đối.</a:t>
            </a:r>
            <a:br/>
            <a:br/>
            <a:r>
              <a:t>• Kiến trúc chuẩn công nghiệp:</a:t>
            </a:r>
            <a:br/>
            <a:r>
              <a:t>  Áp dụng hoàn hảo 6 Design Patterns (Bridge, Adapter, Strategy, Factory, Observer, MVC).</a:t>
            </a:r>
            <a:br/>
            <a:br/>
            <a:r>
              <a:t>• Trực quan hóa JavaFX đỉnh cao:</a:t>
            </a:r>
            <a:br/>
            <a:r>
              <a:t>  Loại bỏ hoàn toàn console đen trắng, thay bằng bảng TableView native và thẻ tương tác sinh động.</a:t>
            </a:r>
            <a:br/>
            <a:br/>
            <a:r>
              <a:t>• Kiểm chứng tin cậy:</a:t>
            </a:r>
            <a:br/>
            <a:r>
              <a:t>  38/38 unit tests vượt qua, xác thực ma trận Golden Tests TC1-TC8.</a:t>
            </a:r>
          </a:p>
        </p:txBody>
      </p:sp>
      <p:sp>
        <p:nvSpPr>
          <p:cNvPr id="8" name="Rounded Rectangle 7"/>
          <p:cNvSpPr/>
          <p:nvPr/>
        </p:nvSpPr>
        <p:spPr>
          <a:xfrm>
            <a:off x="6217920" y="1280160"/>
            <a:ext cx="521208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400" b="1">
                <a:solidFill>
                  <a:srgbClr val="1F4E79"/>
                </a:solidFill>
                <a:latin typeface="Arial"/>
              </a:defRPr>
            </a:pPr>
            <a:r>
              <a:t>🚀 Hướng Phát Triển Tiếp Theo</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300"/>
            </a:pPr>
            <a:r>
              <a:t>• Tối ưu hóa BitSet DFS (V2 Engine):</a:t>
            </a:r>
            <a:br/>
            <a:r>
              <a:t>  Ứng dụng mảng bit và phép toán AND phần cứng để tăng tốc độ giao cắt giao dịch lên gấp 10 lần.</a:t>
            </a:r>
            <a:br/>
            <a:br/>
            <a:r>
              <a:t>• Tích hợp Apache Kafka:</a:t>
            </a:r>
            <a:br/>
            <a:r>
              <a:t>  Đóng gói thành Spring Boot microservice nhận luồng giao dịch trực tiếp từ các sàn thương mại điện tử.</a:t>
            </a:r>
            <a:br/>
            <a:br/>
            <a:r>
              <a:t>• Mở rộng cụm phân tán:</a:t>
            </a:r>
            <a:br/>
            <a:r>
              <a:t>  Triển khai trên nền tảng Apache Flink / Spark Streaming để xử lý hàng triệu giao dịch mỗi giây.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332720" cy="2743200"/>
          </a:xfrm>
          <a:prstGeom prst="rect">
            <a:avLst/>
          </a:prstGeom>
          <a:noFill/>
        </p:spPr>
        <p:txBody>
          <a:bodyPr wrap="none">
            <a:spAutoFit/>
          </a:bodyPr>
          <a:lstStyle/>
          <a:p>
            <a:pPr algn="ctr">
              <a:defRPr sz="3600" b="1">
                <a:solidFill>
                  <a:srgbClr val="FFFFFF"/>
                </a:solidFill>
                <a:latin typeface="Arial"/>
              </a:defRPr>
            </a:pPr>
            <a:r>
              <a:t>XIN CHÂN THÀNH CẢM ƠN QUÝ THẦY CÔ VÀ CÁC BẠN!</a:t>
            </a:r>
          </a:p>
          <a:p>
            <a:pPr algn="ctr">
              <a:defRPr sz="2000">
                <a:solidFill>
                  <a:srgbClr val="85C1E9"/>
                </a:solidFill>
                <a:latin typeface="Arial"/>
              </a:defRPr>
            </a:pPr>
            <a:r>
              <a:t>Em xin kính mời Quý Thầy Cô đặt câu hỏi phản biện và theo dõi Demo trực tiếp phần mềm!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