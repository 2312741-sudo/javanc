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Quý Thầy Cô và các bạn. Hôm nay em xin phép báo cáo đề tài đồ án môn học Lập trình Java Nâng cao: 'Nghiên cứu, Cài đặt và Trực quan hóa Thuật toán Khai phá Mẫu Độ Chiếm Dụng Cao trên Luồng Dữ liệu (DHOPM)'. Đề tài của em được phát triển dựa trên bài báo khoa học quốc tế mới nhất công bố trên tạp chí Engineering Applications of Artificial Intelligence (EAAI, Q1) năm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khai phá dữ liệu giỏ hàng, thuật toán FIM truyền thống chỉ đếm số lần xuất hiện mà bỏ qua độ dài giỏ hàng. Mẫu {Bánh mì, Sữa} trong giỏ 100 món hàng ngẫu nhiên chỉ chiếm 2% nhưng vẫn được đếm 1 điểm bằng giỏ 2 món (chiếm 100%). Độ chiếm dụng Occupancy O(X, Td) = |X|/|Td| khắc phục điều này. Đặc biệt khi xử lý luồng dữ liệu thời gian thực, dữ liệu đến liên tục và cũ dần theo thời gian, đòi hỏi thuật toán phải đáp ứng chuẩn One-Scan và cơ chế cửa sổ suy giảm hàm mũ.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báo EAAI 2026 đưa ra 3 đóng góp cốt lõi: Thứ nhất, mô hình Damped Window với hàm mũ f^(TL-Td) giúp dữ liệu cũ dần mất giá trị theo thời gian. Thứ hai, vì Occupancy không có tính chất phản đơn điệu nên bài báo đề xuất cận trên DUBO để cắt tỉa an toàn toàn bộ cây con DFS. Thứ ba là cấu trúc Global DHO-List lưu cặp &lt;TID, TLen&gt; giúp cập nhật luồng một lần quét cực kỳ tiết kiệm bộ nhớ.</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bức tranh toàn cảnh 3 giai đoạn cốt lõi của thuật toán DHOPM theo bài báo gốc EAAI 2026: Giai đoạn 1 là One-Scan Update, luồng dữ liệu đến chỉ quét đúng 1 lần duy nhất để lưu các cặp TID và độ dài vào Global DHO-List. Giai đoạn 2 là Damped Reconstruct, áp dụng hàm suy giảm f^(TL-Td), tính DO cho từng mục và sắp xếp theo thứ tự Support tăng dần để mục hiếm lên trước. Giai đoạn 3 là Recursive DFS Mining, xây dựng cây duyệt theo chiều sâu kết hợp cận trên DUBO để cắt tỉa an toàn toàn bộ nhánh con không tiềm năng, giảm hơn 75% không gian tìm kiếm.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Giai đoạn 1: Khi một giao dịch mới đến, thuật toán DHOPM không lưu trữ chuỗi ký tự hay đối tượng giao dịch cồng kềnh, mà chỉ bóc tách từng mục và ghi nhận cặp số nguyên gồm Mã giao dịch TID và Độ dài giỏ hàng |Td| vào Node tương ứng trong Global DHO-List. Như trong bảng ví dụ Table 1 gồm 8 giao dịch từ T1 đến T8, giao dịch T1 có 4 mục A, C, D, E nên mỗi Node A, C, D, E sẽ được đẩy thêm một entry là &lt;1, 4&gt;. Cấu trúc này giúp tiết kiệm hơn 78% RAM và cho phép xử lý luồng dữ liệu vô hạn.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Giai đoạn 2: Khi người dùng bấm Khai phá tại thời điểm hiện tại TL = 8, hệ thống áp dụng hàm suy giảm mũ f^(TL-Td) với f=0.9 để tính lại giá trị DO tức thời cho từng mục. Ví dụ với mục F, nhờ xuất hiện ở các giao dịch gần đây như T5, T6, T7 có trọng số cao, DO(F) đạt 1.2553, lớn hơn ngưỡng minSup 1.20 nên F chính là một mẫu DHOP ngay lập tức! Sau đó, thuật toán thực hiện một chiến lược tối ưu sống còn: Sắp xếp các mục theo thứ tự Support tăng dần: G trước B, trước A, C, D, E, F. Vì mục có support thấp sẽ có rất ít giao dịch chung, nên đưa lên đầu cây DFS sẽ bị cắt tỉa ngay từ gốc, triệt tiêu bùng nổ tổ hợp!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Giai đoạn 3 là trái tim của thuật toán: Khai phá đệ quy theo chiều sâu DFS kết hợp Cận trên DUBO. Vì hàm Occupancy phi đơn điệu, một siêu mẫu X' chứa thêm item có thể có độ chiếm dụng lớn hơn X. Do đó không thể áp dụng luật Apriori thông thường. Bài báo đã chứng minh Định lý Cắt tỉa DUBO: DUBO luôn là trần chặn trên của mọi siêu mẫu X'. Nhờ đó, ngay khi DUBO(X) nhỏ hơn minSup, ta có thể cắt tỉa an toàn 100% toàn bộ cây con tại X mà không bao giờ bỏ sót bất kỳ mẫu thực nào. Trên dữ liệu Table 1, không gian tìm kiếm giảm từ 127 tổ hợp lý thuyết xuống chỉ còn 32 mẫu duyệt, cắt tỉa 19 mẫu và chỉ giữ lại đúng 2 mẫu DHOP là {AE} và {F}, giảm 75% chi phí tính toán!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slide này ta thấy rõ sức mạnh của hệ số suy giảm f. Khi f = 1.0, hệ thống tìm ra 9 mẫu DHOP kể cả các mẫu từ các giao dịch T1, T3 rất xa trong quá khứ. Nhưng khi f = 0.9, giá trị của các giao dịch cũ giảm dần theo hàm mũ (T1 chỉ còn 47.8% giá trị), kết quả rút gọn chỉ còn đúng 2 mẫu hot nhất gần đây là AE và F. Điều này loại bỏ 77.8% mẫu lỗi thời!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mặt kỹ thuật Lập trình Java Nâng cao, đây là điểm sáng lớn nhất của đề tài. Em và bạn Sơn áp dụng nguyên lý DIP và Monorepo phân tách rạch ròi. Nhóm áp dụng 9 Design Patterns chuẩn: Bridge, Adapter, Strategy, Factory Method, Observer, Memento, Singleton, MVC và Template Method. Nhờ vậy UI có thể cắm bất kỳ engine nào vào chạy mà không phải sửa dù chỉ một dòng code giao diện.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slide này thể hiện bước nâng cấp lớn về mặt kỹ thuật mạng và chất lượng dữ liệu: Frontend đã kết nối thành công với Backend máy bạn Sơn qua TCP Socket cổng 7079 (IP: 10.141.0.17). Giao diện có thanh nhập IP/Port và nút quét mạng tự động cực kỳ tiện lợi. Đặc biệt, hệ thống tích hợp Thuật toán Khử trùng lặp và bóc tách độ sâu ngoặc vuông JSON, giải quyết triệt để lỗi nhân đôi dòng từ backend (10 dòng về 5 dòng chuẩn) và xóa bỏ lỗi lồng ngoặc nhọn {{...}}, đồng thời hiển thị chi tiết danh sách giao dịch TIDs trên bảng kết quả.</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diện đã được tối ưu hóa toàn diện: Toàn bộ thanh trượt Slider đã được thay thế bằng các ô nhập dữ liệu TextField chuẩn xác có kiểm soát miền giá trị, loại bỏ triệt để hiện tượng kéo trượt gây trễ và tính toán ngoài ý muốn. Nút Mining được đưa xuống dưới cùng với kích thước to nhất. Đồng thời, giao diện sử dụng 100% bảng TableView native, phân tách rõ ràng luồng demo 8 giao dịch tại Panel 2 để không làm ảnh hưởng đến dữ liệu kiểm thử Big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Tab 3 và Tab 6, ứng dụng mang đến hai tính năng vượt trội: Tính năng Quét minSup tự động chạy từ 5% đến 50%, vẽ lại chính xác 3 biểu đồ Figures 6, 11, 13 của bài báo gốc với số liệu thực từ engine, không có số liệu giả lập. Tab 6 là Calculation Logger ghi lại từng phép tính số học, công thức DO và quyết định cắt tỉa, giúp Thầy Cô và sinh viên theo dõi chính xác từng bước chạy của thuật toán.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bảng đối soát 3 cột cực kỳ quan trọng: Tâm DFS Client, Tson In-Process và Tson TCP Backend. Cả 3 engine chạy độc lập bằng các kỹ thuật khác nhau nhưng khi đối soát trên bộ dữ liệu chuẩn Table 1, kết quả cho ra hoàn toàn trùng khớp 100%: đều tìm ra chính xác 2 mẫu {AE} và {F} với điểm DO 1.2601 và 1.2553, sai số toán học bằng 0. Điều này chứng minh tính đúng đắn toán học tuyệt đối của toàn bộ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bằng chứng kỹ thuật vững chắc: Toàn bộ 63 bài kiểm thử Unit &amp; Integration Tests trải rộng trên 12 test suites đều đạt kết quả 100% BUILD SUCCESS. Bao gồm kiểm thử tính toán công thức DO/DUBO, kiểm thử máy chủ TCP Mock nội bộ, kiểm thử bộ phân tích JSON không nuốt mảng perVersion, và kiểm thử thuật toán khử trùng lặp dữ liệu. Ma trận 8 trường hợp kiểm thử vàng TC1–TC8 với các cấu hình f và ∂ khác nhau đều cho kết quả hoàn toàn khớp bài báo, với sai số tuyệt đối dưới 0.0001.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đề tài đã hoàn thành xuất sắc các mục tiêu cả về mặt học thuật lý thuyết lẫn kỹ thuật lập trình Java nâng cao. Hướng phát triển tiếp theo là nâng cấp thuật toán bằng BitSet để tối ưu hóa CPU và kết nối với Apache Kafka, Flink để ứng dụng vào các hệ thống Big Data thương mại điện tử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chân thành cảm ơn Quý Thầy Cô đã chú ý lắng nghe phần trình bày của em. Bây giờ em xin phép khởi chạy ứng dụng trực tiếp trên máy và sẵn sàng trả lời các câu hỏi phản biện từ Hội đồng.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32720" cy="411480"/>
          </a:xfrm>
          <a:prstGeom prst="rect">
            <a:avLst/>
          </a:prstGeom>
          <a:noFill/>
        </p:spPr>
        <p:txBody>
          <a:bodyPr wrap="none">
            <a:spAutoFit/>
          </a:bodyPr>
          <a:lstStyle/>
          <a:p>
            <a:pPr>
              <a:defRPr sz="1300" b="1">
                <a:solidFill>
                  <a:srgbClr val="85C1E9"/>
                </a:solidFill>
                <a:latin typeface="Arial"/>
              </a:defRPr>
            </a:pPr>
            <a:r>
              <a:t>TRƯỜNG ĐẠI HỌC ĐÀ LẠT • KHOA CÔNG NGHỆ THÔNG TIN</a:t>
            </a:r>
          </a:p>
        </p:txBody>
      </p:sp>
      <p:sp>
        <p:nvSpPr>
          <p:cNvPr id="4" name="TextBox 3"/>
          <p:cNvSpPr txBox="1"/>
          <p:nvPr/>
        </p:nvSpPr>
        <p:spPr>
          <a:xfrm>
            <a:off x="914400" y="1188720"/>
            <a:ext cx="10332720" cy="2011680"/>
          </a:xfrm>
          <a:prstGeom prst="rect">
            <a:avLst/>
          </a:prstGeom>
          <a:noFill/>
        </p:spPr>
        <p:txBody>
          <a:bodyPr wrap="square">
            <a:spAutoFit/>
          </a:bodyPr>
          <a:lstStyle/>
          <a:p>
            <a:pPr>
              <a:defRPr sz="3800" b="1">
                <a:solidFill>
                  <a:srgbClr val="FFFFFF"/>
                </a:solidFill>
                <a:latin typeface="Arial"/>
              </a:defRPr>
            </a:pPr>
            <a:r>
              <a:t>DHOPM STREAM VISUALIZER</a:t>
            </a:r>
          </a:p>
          <a:p>
            <a:pPr>
              <a:defRPr sz="1700">
                <a:solidFill>
                  <a:srgbClr val="D4EFDF"/>
                </a:solidFill>
                <a:latin typeface="Arial"/>
              </a:defRPr>
            </a:pPr>
            <a:r>
              <a:t>Nghiên cứu, Cài đặt và Trực quan hóa Thuật toán Khai phá Mẫu Độ Chiếm Dụng Cao trên Luồng Dữ liệu theo Cửa sổ Suy giảm</a:t>
            </a:r>
          </a:p>
        </p:txBody>
      </p:sp>
      <p:sp>
        <p:nvSpPr>
          <p:cNvPr id="5" name="Rounded Rectangle 4"/>
          <p:cNvSpPr/>
          <p:nvPr/>
        </p:nvSpPr>
        <p:spPr>
          <a:xfrm>
            <a:off x="914400" y="3383280"/>
            <a:ext cx="10362895" cy="1188720"/>
          </a:xfrm>
          <a:prstGeom prst="roundRect">
            <a:avLst/>
          </a:prstGeom>
          <a:solidFill>
            <a:srgbClr val="15385B"/>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474720"/>
            <a:ext cx="10058400" cy="1005840"/>
          </a:xfrm>
          <a:prstGeom prst="rect">
            <a:avLst/>
          </a:prstGeom>
          <a:noFill/>
        </p:spPr>
        <p:txBody>
          <a:bodyPr wrap="none">
            <a:spAutoFit/>
          </a:bodyPr>
          <a:lstStyle/>
          <a:p>
            <a:pPr>
              <a:defRPr b="1" sz="1200">
                <a:solidFill>
                  <a:srgbClr val="F9E79F"/>
                </a:solidFill>
              </a:defRPr>
            </a:pPr>
            <a:r>
              <a:t>📖 DỰA TRÊN BÀI BÁO KHOA HỌC QUỐC TẾ (EAAI 2026 - Q1 ISI/SCOPUS):</a:t>
            </a:r>
          </a:p>
          <a:p>
            <a:pPr>
              <a:defRPr sz="1100" i="1">
                <a:solidFill>
                  <a:srgbClr val="FFFFFF"/>
                </a:solidFill>
              </a:defRPr>
            </a:pPr>
            <a:r>
              <a:t>"Damped window based high occupancy pattern mining with one scanning of data streams"</a:t>
            </a:r>
            <a:br/>
            <a:r>
              <a:t>Engineering Applications of Artificial Intelligence (EAAI), Vol. 174, 2026. DOI: 10.1016/j.engappai.2026.114511</a:t>
            </a:r>
          </a:p>
        </p:txBody>
      </p:sp>
      <p:sp>
        <p:nvSpPr>
          <p:cNvPr id="7" name="TextBox 6"/>
          <p:cNvSpPr txBox="1"/>
          <p:nvPr/>
        </p:nvSpPr>
        <p:spPr>
          <a:xfrm>
            <a:off x="914400" y="4754880"/>
            <a:ext cx="10332720" cy="1828800"/>
          </a:xfrm>
          <a:prstGeom prst="rect">
            <a:avLst/>
          </a:prstGeom>
          <a:noFill/>
        </p:spPr>
        <p:txBody>
          <a:bodyPr wrap="none">
            <a:spAutoFit/>
          </a:bodyPr>
          <a:lstStyle/>
          <a:p>
            <a:pPr>
              <a:defRPr sz="1400" b="1">
                <a:solidFill>
                  <a:srgbClr val="FFFFFF"/>
                </a:solidFill>
              </a:defRPr>
            </a:pPr>
            <a:r>
              <a:t>Sinh viên thực hiện: NGUYỄN THANH TÂM – MSSV: 2312741 (Lớp CTK47-PM)</a:t>
            </a:r>
          </a:p>
          <a:p>
            <a:pPr>
              <a:defRPr sz="1250">
                <a:solidFill>
                  <a:srgbClr val="BDC3C7"/>
                </a:solidFill>
              </a:defRPr>
            </a:pPr>
            <a:r>
              <a:t>Thành viên phối hợp: Nguyễn Hữu Trung Sơn (Lớp CTK45-PM | Core Engine &amp; CLI Backend)</a:t>
            </a:r>
          </a:p>
          <a:p>
            <a:pPr>
              <a:defRPr sz="1250">
                <a:solidFill>
                  <a:srgbClr val="BDC3C7"/>
                </a:solidFill>
              </a:defRPr>
            </a:pPr>
            <a:r>
              <a:t>Giảng viên hướng dẫn: ThS. Đoàn Minh Khuê | Học phần: Lập Trình Java Nâng Cao</a:t>
            </a:r>
          </a:p>
          <a:p>
            <a:pPr>
              <a:defRPr sz="1100">
                <a:solidFill>
                  <a:srgbClr val="85C1E9"/>
                </a:solidFill>
              </a:defRPr>
            </a:pPr>
            <a:r>
              <a:t>Kho lưu trữ: FE (https://github.com/2312741-sudo/javanc) | BE (https://github.com/Tson-dev/JVNC)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1. Đặt Vấn Đề: Từ FIM Đến HOPM Trên Luồng Dữ Liệu</a:t>
            </a:r>
          </a:p>
        </p:txBody>
      </p:sp>
      <p:sp>
        <p:nvSpPr>
          <p:cNvPr id="5" name="Rounded Rectangle 4"/>
          <p:cNvSpPr/>
          <p:nvPr/>
        </p:nvSpPr>
        <p:spPr>
          <a:xfrm>
            <a:off x="731520" y="1280160"/>
            <a:ext cx="5120640" cy="5029200"/>
          </a:xfrm>
          <a:prstGeom prst="roundRect">
            <a:avLst/>
          </a:prstGeom>
          <a:solidFill>
            <a:srgbClr val="FFFFFF"/>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754880" cy="365760"/>
          </a:xfrm>
          <a:prstGeom prst="rect">
            <a:avLst/>
          </a:prstGeom>
          <a:noFill/>
        </p:spPr>
        <p:txBody>
          <a:bodyPr wrap="none">
            <a:spAutoFit/>
          </a:bodyPr>
          <a:lstStyle/>
          <a:p>
            <a:pPr>
              <a:defRPr sz="1350" b="1">
                <a:solidFill>
                  <a:srgbClr val="1F4E79"/>
                </a:solidFill>
                <a:latin typeface="Arial"/>
              </a:defRPr>
            </a:pPr>
            <a:r>
              <a:t>⚠️ Giới Hạn Của FIM Truyền Thống</a:t>
            </a:r>
          </a:p>
        </p:txBody>
      </p:sp>
      <p:sp>
        <p:nvSpPr>
          <p:cNvPr id="7" name="TextBox 6"/>
          <p:cNvSpPr txBox="1"/>
          <p:nvPr/>
        </p:nvSpPr>
        <p:spPr>
          <a:xfrm>
            <a:off x="914400" y="1828800"/>
            <a:ext cx="4754880" cy="4206240"/>
          </a:xfrm>
          <a:prstGeom prst="rect">
            <a:avLst/>
          </a:prstGeom>
          <a:noFill/>
        </p:spPr>
        <p:txBody>
          <a:bodyPr wrap="square">
            <a:spAutoFit/>
          </a:bodyPr>
          <a:lstStyle/>
          <a:p>
            <a:pPr>
              <a:defRPr sz="1250"/>
            </a:pPr>
            <a:r>
              <a:t>• Chỉ quan tâm tần số (Frequency/Support):</a:t>
            </a:r>
            <a:br/>
            <a:r>
              <a:t>  FIM chỉ đếm số lần xuất hiện nhị phân (0/1), hoàn toàn bỏ qua kích thước giao dịch thực tế.</a:t>
            </a:r>
          </a:p>
          <a:p>
            <a:br/>
            <a:pPr>
              <a:defRPr sz="1250"/>
            </a:pPr>
            <a:r>
              <a:t>• Thiên vị giao dịch ngẫu nhiên:</a:t>
            </a:r>
            <a:br/>
            <a:r>
              <a:t>  Tập {Bánh mì, Sữa} trong giỏ 100 món (chiếm 2%) vẫn được tính điểm bằng với giỏ chỉ có 2 món (chiếm 100%).</a:t>
            </a:r>
          </a:p>
          <a:p>
            <a:br/>
            <a:pPr>
              <a:defRPr sz="1250"/>
            </a:pPr>
            <a:r>
              <a:t>• Bùng nổ không gian mẫu 'loãng':</a:t>
            </a:r>
            <a:br/>
            <a:r>
              <a:t>  Ngưỡng minSup thấp sinh ra hàng triệu mẫu kết hợp ngẫu nhiên không có giá trị quyết định kinh doanh.</a:t>
            </a:r>
          </a:p>
        </p:txBody>
      </p:sp>
      <p:sp>
        <p:nvSpPr>
          <p:cNvPr id="8" name="Rounded Rectangle 7"/>
          <p:cNvSpPr/>
          <p:nvPr/>
        </p:nvSpPr>
        <p:spPr>
          <a:xfrm>
            <a:off x="6217920" y="1280160"/>
            <a:ext cx="521208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4846320" cy="365760"/>
          </a:xfrm>
          <a:prstGeom prst="rect">
            <a:avLst/>
          </a:prstGeom>
          <a:noFill/>
        </p:spPr>
        <p:txBody>
          <a:bodyPr wrap="none">
            <a:spAutoFit/>
          </a:bodyPr>
          <a:lstStyle/>
          <a:p>
            <a:pPr>
              <a:defRPr sz="1350" b="1">
                <a:solidFill>
                  <a:srgbClr val="1F4E79"/>
                </a:solidFill>
                <a:latin typeface="Arial"/>
              </a:defRPr>
            </a:pPr>
            <a:r>
              <a:t>💡 Thách Thức Trên Luồng Dữ Liệu &amp; Giải Pháp</a:t>
            </a:r>
          </a:p>
        </p:txBody>
      </p:sp>
      <p:sp>
        <p:nvSpPr>
          <p:cNvPr id="10" name="TextBox 9"/>
          <p:cNvSpPr txBox="1"/>
          <p:nvPr/>
        </p:nvSpPr>
        <p:spPr>
          <a:xfrm>
            <a:off x="6400800" y="1828800"/>
            <a:ext cx="4846320" cy="4206240"/>
          </a:xfrm>
          <a:prstGeom prst="rect">
            <a:avLst/>
          </a:prstGeom>
          <a:noFill/>
        </p:spPr>
        <p:txBody>
          <a:bodyPr wrap="square">
            <a:spAutoFit/>
          </a:bodyPr>
          <a:lstStyle/>
          <a:p>
            <a:pPr>
              <a:defRPr sz="1250"/>
            </a:pPr>
            <a:r>
              <a:t>• Ràng buộc Một Lần Quét (One-Scan):</a:t>
            </a:r>
            <a:br/>
            <a:r>
              <a:t>  Dữ liệu luồng đến liên tục, tốc độ cao, không thể lưu trữ toàn bộ hoặc quét lại các giao dịch cũ.</a:t>
            </a:r>
          </a:p>
          <a:p>
            <a:br/>
            <a:pPr>
              <a:defRPr sz="1250"/>
            </a:pPr>
            <a:r>
              <a:t>• Trôi dạt khái niệm (Concept Drift):</a:t>
            </a:r>
            <a:br/>
            <a:r>
              <a:t>  Hành vi người dùng thay đổi theo thời gian. Giao dịch từ vài tháng trước không còn mang tính dự báo cho hiện tại.</a:t>
            </a:r>
          </a:p>
          <a:p>
            <a:br/>
            <a:pPr>
              <a:defRPr sz="1250" b="1">
                <a:solidFill>
                  <a:srgbClr val="1F4E79"/>
                </a:solidFill>
              </a:defRPr>
            </a:pPr>
            <a:r>
              <a:t>★ ĐỘ ĐO ĐỘ CHIẾM DỤNG (OCCUPANCY):</a:t>
            </a:r>
            <a:br/>
            <a:r>
              <a:t>  O(X, Td) = |X| / |Td|</a:t>
            </a:r>
            <a:br/>
            <a:r>
              <a:t>  Đo lường mức độ thống trị, ưu tiên các tổ hợp chiếm tỷ lệ lớn trong từng giao dịch cụ thể.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2. Bài Báo Gốc &amp; 3 Đóng Góp Đột Phá (EAAI 2026)</a:t>
            </a:r>
          </a:p>
        </p:txBody>
      </p:sp>
      <p:sp>
        <p:nvSpPr>
          <p:cNvPr id="5" name="Rounded Rectangle 4"/>
          <p:cNvSpPr/>
          <p:nvPr/>
        </p:nvSpPr>
        <p:spPr>
          <a:xfrm>
            <a:off x="731520" y="1280160"/>
            <a:ext cx="329184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2926080" cy="365760"/>
          </a:xfrm>
          <a:prstGeom prst="rect">
            <a:avLst/>
          </a:prstGeom>
          <a:noFill/>
        </p:spPr>
        <p:txBody>
          <a:bodyPr wrap="none">
            <a:spAutoFit/>
          </a:bodyPr>
          <a:lstStyle/>
          <a:p>
            <a:pPr>
              <a:defRPr sz="1350" b="1">
                <a:solidFill>
                  <a:srgbClr val="1F4E79"/>
                </a:solidFill>
                <a:latin typeface="Arial"/>
              </a:defRPr>
            </a:pPr>
            <a:r>
              <a:t>1. Damped Window &amp; DO</a:t>
            </a:r>
          </a:p>
        </p:txBody>
      </p:sp>
      <p:sp>
        <p:nvSpPr>
          <p:cNvPr id="7" name="TextBox 6"/>
          <p:cNvSpPr txBox="1"/>
          <p:nvPr/>
        </p:nvSpPr>
        <p:spPr>
          <a:xfrm>
            <a:off x="914400" y="1828800"/>
            <a:ext cx="2926080" cy="4114800"/>
          </a:xfrm>
          <a:prstGeom prst="rect">
            <a:avLst/>
          </a:prstGeom>
          <a:noFill/>
        </p:spPr>
        <p:txBody>
          <a:bodyPr wrap="square">
            <a:spAutoFit/>
          </a:bodyPr>
          <a:lstStyle/>
          <a:p>
            <a:pPr>
              <a:defRPr sz="1200"/>
            </a:pPr>
            <a:r>
              <a:t>• Mô hình suy giảm hàm mũ:</a:t>
            </a:r>
            <a:br/>
            <a:r>
              <a:t>  Trọng số Weight(Td) = f^(TL - Td).</a:t>
            </a:r>
            <a:br/>
            <a:br/>
            <a:r>
              <a:t>• Công thức Damped Occupancy:</a:t>
            </a:r>
            <a:br/>
            <a:r>
              <a:t>  DO(X) = Σ (|X|/|Td|) × f^(TL - Td).</a:t>
            </a:r>
            <a:br/>
            <a:br/>
            <a:r>
              <a:t>• Lợi ích vượt trội:</a:t>
            </a:r>
            <a:br/>
            <a:r>
              <a:t>  Giao dịch mới nhất giữ 100% giá trị, dữ liệu cũ giảm dần, loại bỏ các mẫu lỗi thời.</a:t>
            </a:r>
          </a:p>
        </p:txBody>
      </p:sp>
      <p:sp>
        <p:nvSpPr>
          <p:cNvPr id="8" name="Rounded Rectangle 7"/>
          <p:cNvSpPr/>
          <p:nvPr/>
        </p:nvSpPr>
        <p:spPr>
          <a:xfrm>
            <a:off x="4389120" y="1280160"/>
            <a:ext cx="3291840" cy="502920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417320"/>
            <a:ext cx="2926080" cy="365760"/>
          </a:xfrm>
          <a:prstGeom prst="rect">
            <a:avLst/>
          </a:prstGeom>
          <a:noFill/>
        </p:spPr>
        <p:txBody>
          <a:bodyPr wrap="none">
            <a:spAutoFit/>
          </a:bodyPr>
          <a:lstStyle/>
          <a:p>
            <a:pPr>
              <a:defRPr sz="1350" b="1">
                <a:solidFill>
                  <a:srgbClr val="1F4E79"/>
                </a:solidFill>
                <a:latin typeface="Arial"/>
              </a:defRPr>
            </a:pPr>
            <a:r>
              <a:t>2. Cận Trên DUBO</a:t>
            </a:r>
          </a:p>
        </p:txBody>
      </p:sp>
      <p:sp>
        <p:nvSpPr>
          <p:cNvPr id="10" name="TextBox 9"/>
          <p:cNvSpPr txBox="1"/>
          <p:nvPr/>
        </p:nvSpPr>
        <p:spPr>
          <a:xfrm>
            <a:off x="4572000" y="1828800"/>
            <a:ext cx="2926080" cy="4114800"/>
          </a:xfrm>
          <a:prstGeom prst="rect">
            <a:avLst/>
          </a:prstGeom>
          <a:noFill/>
        </p:spPr>
        <p:txBody>
          <a:bodyPr wrap="square">
            <a:spAutoFit/>
          </a:bodyPr>
          <a:lstStyle/>
          <a:p>
            <a:pPr>
              <a:defRPr sz="1200"/>
            </a:pPr>
            <a:r>
              <a:t>• Vấn đề phi đơn điệu:</a:t>
            </a:r>
            <a:br/>
            <a:r>
              <a:t>  Thêm mục vào mẫu có thể TĂNG độ chiếm dụng, làm vô hiệu hóa luật Apriori.</a:t>
            </a:r>
            <a:br/>
            <a:br/>
            <a:r>
              <a:t>• Giải pháp Cận trên DUBO:</a:t>
            </a:r>
            <a:br/>
            <a:r>
              <a:t>  DUBO(X) là chặn trên của mọi siêu mẫu X' chứa X.</a:t>
            </a:r>
            <a:br/>
            <a:br/>
            <a:r>
              <a:t>• Cắt tỉa nhánh cây an toàn:</a:t>
            </a:r>
            <a:br/>
            <a:r>
              <a:t>  Nếu DUBO(X) &lt; minSup → Cắt tỉa 100% cây con, Zero False Negatives.</a:t>
            </a:r>
          </a:p>
        </p:txBody>
      </p:sp>
      <p:sp>
        <p:nvSpPr>
          <p:cNvPr id="11" name="Rounded Rectangle 10"/>
          <p:cNvSpPr/>
          <p:nvPr/>
        </p:nvSpPr>
        <p:spPr>
          <a:xfrm>
            <a:off x="8046720" y="1280160"/>
            <a:ext cx="3291840" cy="5029200"/>
          </a:xfrm>
          <a:prstGeom prst="roundRect">
            <a:avLst/>
          </a:prstGeom>
          <a:solidFill>
            <a:srgbClr val="FFFFFF"/>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417320"/>
            <a:ext cx="2926080" cy="365760"/>
          </a:xfrm>
          <a:prstGeom prst="rect">
            <a:avLst/>
          </a:prstGeom>
          <a:noFill/>
        </p:spPr>
        <p:txBody>
          <a:bodyPr wrap="none">
            <a:spAutoFit/>
          </a:bodyPr>
          <a:lstStyle/>
          <a:p>
            <a:pPr>
              <a:defRPr sz="1350" b="1">
                <a:solidFill>
                  <a:srgbClr val="1F4E79"/>
                </a:solidFill>
                <a:latin typeface="Arial"/>
              </a:defRPr>
            </a:pPr>
            <a:r>
              <a:t>3. One-Scan DHO-List</a:t>
            </a:r>
          </a:p>
        </p:txBody>
      </p:sp>
      <p:sp>
        <p:nvSpPr>
          <p:cNvPr id="13" name="TextBox 12"/>
          <p:cNvSpPr txBox="1"/>
          <p:nvPr/>
        </p:nvSpPr>
        <p:spPr>
          <a:xfrm>
            <a:off x="8229600" y="1828800"/>
            <a:ext cx="2926080" cy="4114800"/>
          </a:xfrm>
          <a:prstGeom prst="rect">
            <a:avLst/>
          </a:prstGeom>
          <a:noFill/>
        </p:spPr>
        <p:txBody>
          <a:bodyPr wrap="square">
            <a:spAutoFit/>
          </a:bodyPr>
          <a:lstStyle/>
          <a:p>
            <a:pPr>
              <a:defRPr sz="1200"/>
            </a:pPr>
            <a:r>
              <a:t>• Cấu trúc danh sách toàn cục:</a:t>
            </a:r>
            <a:br/>
            <a:r>
              <a:t>  Mỗi node lưu cặp &lt;TID, TLen&gt; thay vì toàn bộ các items.</a:t>
            </a:r>
            <a:br/>
            <a:br/>
            <a:r>
              <a:t>• Tiết kiệm bộ nhớ RAM:</a:t>
            </a:r>
            <a:br/>
            <a:r>
              <a:t>  Giảm hơn 78% dung lượng so với lưu trữ toàn bộ luồng giao dịch thô.</a:t>
            </a:r>
            <a:br/>
            <a:br/>
            <a:r>
              <a:t>• Cập nhật gia tăng:</a:t>
            </a:r>
            <a:br/>
            <a:r>
              <a:t>  Giao dịch mới đến chỉ quét 1 lần duy nhất, không đọc lại lịch sử.</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3. Tổng Quan Kiến Trúc 3 Giai Đoạn Của Thuật Toán DHOPM</a:t>
            </a:r>
          </a:p>
        </p:txBody>
      </p:sp>
      <p:sp>
        <p:nvSpPr>
          <p:cNvPr id="5" name="Rounded Rectangle 4"/>
          <p:cNvSpPr/>
          <p:nvPr/>
        </p:nvSpPr>
        <p:spPr>
          <a:xfrm>
            <a:off x="731520" y="1280160"/>
            <a:ext cx="329184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2926080" cy="365760"/>
          </a:xfrm>
          <a:prstGeom prst="rect">
            <a:avLst/>
          </a:prstGeom>
          <a:noFill/>
        </p:spPr>
        <p:txBody>
          <a:bodyPr wrap="none">
            <a:spAutoFit/>
          </a:bodyPr>
          <a:lstStyle/>
          <a:p>
            <a:pPr>
              <a:defRPr sz="1350" b="1">
                <a:solidFill>
                  <a:srgbClr val="1F4E79"/>
                </a:solidFill>
                <a:latin typeface="Arial"/>
              </a:defRPr>
            </a:pPr>
            <a:r>
              <a:t>⚡ Pha 1: One-Scan Update</a:t>
            </a:r>
          </a:p>
        </p:txBody>
      </p:sp>
      <p:sp>
        <p:nvSpPr>
          <p:cNvPr id="7" name="TextBox 6"/>
          <p:cNvSpPr txBox="1"/>
          <p:nvPr/>
        </p:nvSpPr>
        <p:spPr>
          <a:xfrm>
            <a:off x="914400" y="1828800"/>
            <a:ext cx="2926080" cy="4114800"/>
          </a:xfrm>
          <a:prstGeom prst="rect">
            <a:avLst/>
          </a:prstGeom>
          <a:noFill/>
        </p:spPr>
        <p:txBody>
          <a:bodyPr wrap="square">
            <a:spAutoFit/>
          </a:bodyPr>
          <a:lstStyle/>
          <a:p>
            <a:pPr>
              <a:defRPr sz="1200"/>
            </a:pPr>
            <a:r>
              <a:t>• Quét luồng 1 lần duy nhất:</a:t>
            </a:r>
            <a:br/>
            <a:r>
              <a:t>  Giao dịch T_d đến chỉ được đọc 1 lần, không lưu trữ dữ liệu thô.</a:t>
            </a:r>
            <a:br/>
            <a:br/>
            <a:r>
              <a:t>• Cấu trúc Global DHO-List:</a:t>
            </a:r>
            <a:br/>
            <a:r>
              <a:t>  Mỗi mục (item) duy trì danh sách các cặp số nguyên &lt;TID, |T_d|&gt;.</a:t>
            </a:r>
            <a:br/>
            <a:br/>
            <a:r>
              <a:t>• Độ phức tạp O(|T_d|):</a:t>
            </a:r>
            <a:br/>
            <a:r>
              <a:t>  Thêm entry tức thì, không phụ thuộc chiều dài vô hạn của luồng dữ liệu.</a:t>
            </a:r>
          </a:p>
        </p:txBody>
      </p:sp>
      <p:sp>
        <p:nvSpPr>
          <p:cNvPr id="8" name="Rounded Rectangle 7"/>
          <p:cNvSpPr/>
          <p:nvPr/>
        </p:nvSpPr>
        <p:spPr>
          <a:xfrm>
            <a:off x="4389120" y="1280160"/>
            <a:ext cx="3291840" cy="5029200"/>
          </a:xfrm>
          <a:prstGeom prst="roundRect">
            <a:avLst/>
          </a:prstGeom>
          <a:solidFill>
            <a:srgbClr val="FFFFFF"/>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417320"/>
            <a:ext cx="2926080" cy="365760"/>
          </a:xfrm>
          <a:prstGeom prst="rect">
            <a:avLst/>
          </a:prstGeom>
          <a:noFill/>
        </p:spPr>
        <p:txBody>
          <a:bodyPr wrap="none">
            <a:spAutoFit/>
          </a:bodyPr>
          <a:lstStyle/>
          <a:p>
            <a:pPr>
              <a:defRPr sz="1350" b="1">
                <a:solidFill>
                  <a:srgbClr val="1F4E79"/>
                </a:solidFill>
                <a:latin typeface="Arial"/>
              </a:defRPr>
            </a:pPr>
            <a:r>
              <a:t>📉 Pha 2: Damped Reconstruct</a:t>
            </a:r>
          </a:p>
        </p:txBody>
      </p:sp>
      <p:sp>
        <p:nvSpPr>
          <p:cNvPr id="10" name="TextBox 9"/>
          <p:cNvSpPr txBox="1"/>
          <p:nvPr/>
        </p:nvSpPr>
        <p:spPr>
          <a:xfrm>
            <a:off x="4572000" y="1828800"/>
            <a:ext cx="2926080" cy="4114800"/>
          </a:xfrm>
          <a:prstGeom prst="rect">
            <a:avLst/>
          </a:prstGeom>
          <a:noFill/>
        </p:spPr>
        <p:txBody>
          <a:bodyPr wrap="square">
            <a:spAutoFit/>
          </a:bodyPr>
          <a:lstStyle/>
          <a:p>
            <a:pPr>
              <a:defRPr sz="1200"/>
            </a:pPr>
            <a:r>
              <a:t>• Trọng số suy giảm mũ:</a:t>
            </a:r>
            <a:br/>
            <a:r>
              <a:t>  Weight(T_d) = f^(TL - T_d).</a:t>
            </a:r>
            <a:br/>
            <a:r>
              <a:t>  Giao dịch mới nhất giữ 100% giá trị, dữ liệu cũ giảm dần.</a:t>
            </a:r>
            <a:br/>
            <a:br/>
            <a:r>
              <a:t>• Tính DO tức thời mục đơn:</a:t>
            </a:r>
            <a:br/>
            <a:r>
              <a:t>  DO(i) = Σ (1/|T_d|) × f^(TL - T_d).</a:t>
            </a:r>
            <a:br/>
            <a:r>
              <a:t>  Xác định ngay các mục đơn đạt chuẩn DHOP.</a:t>
            </a:r>
            <a:br/>
            <a:br/>
            <a:r>
              <a:t>• Sắp xếp Support tăng dần:</a:t>
            </a:r>
            <a:br/>
            <a:r>
              <a:t>  G ≺ B ≺ A ≺ C ≺ D ≺ E ≺ F.</a:t>
            </a:r>
            <a:br/>
            <a:r>
              <a:t>  Đưa mục hiếm lên trước để cắt tỉa sớm.</a:t>
            </a:r>
          </a:p>
        </p:txBody>
      </p:sp>
      <p:sp>
        <p:nvSpPr>
          <p:cNvPr id="11" name="Rounded Rectangle 10"/>
          <p:cNvSpPr/>
          <p:nvPr/>
        </p:nvSpPr>
        <p:spPr>
          <a:xfrm>
            <a:off x="8046720" y="1280160"/>
            <a:ext cx="3291840" cy="502920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417320"/>
            <a:ext cx="2926080" cy="365760"/>
          </a:xfrm>
          <a:prstGeom prst="rect">
            <a:avLst/>
          </a:prstGeom>
          <a:noFill/>
        </p:spPr>
        <p:txBody>
          <a:bodyPr wrap="none">
            <a:spAutoFit/>
          </a:bodyPr>
          <a:lstStyle/>
          <a:p>
            <a:pPr>
              <a:defRPr sz="1350" b="1">
                <a:solidFill>
                  <a:srgbClr val="1F4E79"/>
                </a:solidFill>
                <a:latin typeface="Arial"/>
              </a:defRPr>
            </a:pPr>
            <a:r>
              <a:t>🌳 Pha 3: Recursive DFS &amp; DUBO</a:t>
            </a:r>
          </a:p>
        </p:txBody>
      </p:sp>
      <p:sp>
        <p:nvSpPr>
          <p:cNvPr id="13" name="TextBox 12"/>
          <p:cNvSpPr txBox="1"/>
          <p:nvPr/>
        </p:nvSpPr>
        <p:spPr>
          <a:xfrm>
            <a:off x="8229600" y="1828800"/>
            <a:ext cx="2926080" cy="4114800"/>
          </a:xfrm>
          <a:prstGeom prst="rect">
            <a:avLst/>
          </a:prstGeom>
          <a:noFill/>
        </p:spPr>
        <p:txBody>
          <a:bodyPr wrap="square">
            <a:spAutoFit/>
          </a:bodyPr>
          <a:lstStyle/>
          <a:p>
            <a:pPr>
              <a:defRPr sz="1200"/>
            </a:pPr>
            <a:r>
              <a:t>• Duyệt cây DFS đệ quy:</a:t>
            </a:r>
            <a:br/>
            <a:r>
              <a:t>  Kết hợp các mục theo thứ tự đã sắp xếp để sinh mẫu ứng viên X.</a:t>
            </a:r>
            <a:br/>
            <a:br/>
            <a:r>
              <a:t>• Định lý Cắt tỉa DUBO:</a:t>
            </a:r>
            <a:br/>
            <a:r>
              <a:t>  DUBO(X) là chặn trên của mọi siêu mẫu X'.</a:t>
            </a:r>
            <a:br/>
            <a:r>
              <a:t>  Nếu DUBO(X) &lt; minSup → Cắt tỉa toàn bộ cây con tại X!</a:t>
            </a:r>
            <a:br/>
            <a:br/>
            <a:r>
              <a:t>★ TIẾT KIỆM 75% TÍNH TOÁN:</a:t>
            </a:r>
            <a:br/>
            <a:r>
              <a:t>  127 tổ hợp lý thuyết → chỉ cần duyệt 32 mẫu, tìm đúng 2 mẫu DHOP {AE} và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4. Giai Đoạn 1: One-Scan Global DHO-List &amp; Cấu Trúc Entry Tiết Kiệm RAM</a:t>
            </a:r>
          </a:p>
        </p:txBody>
      </p:sp>
      <p:sp>
        <p:nvSpPr>
          <p:cNvPr id="5" name="Rounded Rectangle 4"/>
          <p:cNvSpPr/>
          <p:nvPr/>
        </p:nvSpPr>
        <p:spPr>
          <a:xfrm>
            <a:off x="731520" y="1280160"/>
            <a:ext cx="530352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937760" cy="365760"/>
          </a:xfrm>
          <a:prstGeom prst="rect">
            <a:avLst/>
          </a:prstGeom>
          <a:noFill/>
        </p:spPr>
        <p:txBody>
          <a:bodyPr wrap="none">
            <a:spAutoFit/>
          </a:bodyPr>
          <a:lstStyle/>
          <a:p>
            <a:pPr>
              <a:defRPr sz="1350" b="1">
                <a:solidFill>
                  <a:srgbClr val="1F4E79"/>
                </a:solidFill>
                <a:latin typeface="Arial"/>
              </a:defRPr>
            </a:pPr>
            <a:r>
              <a:t>📊 Dữ Liệu Luồng Chuẩn Table 1 (TL = 8, f = 0.9)</a:t>
            </a:r>
          </a:p>
        </p:txBody>
      </p:sp>
      <p:sp>
        <p:nvSpPr>
          <p:cNvPr id="7" name="TextBox 6"/>
          <p:cNvSpPr txBox="1"/>
          <p:nvPr/>
        </p:nvSpPr>
        <p:spPr>
          <a:xfrm>
            <a:off x="914400" y="1828800"/>
            <a:ext cx="4937760" cy="4206240"/>
          </a:xfrm>
          <a:prstGeom prst="rect">
            <a:avLst/>
          </a:prstGeom>
          <a:noFill/>
        </p:spPr>
        <p:txBody>
          <a:bodyPr wrap="square">
            <a:spAutoFit/>
          </a:bodyPr>
          <a:lstStyle/>
          <a:p>
            <a:pPr>
              <a:defRPr sz="1150"/>
            </a:pPr>
            <a:r>
              <a:t>8 giao dịch lần lượt đến theo thời gian thực:</a:t>
            </a:r>
            <a:br/>
            <a:r>
              <a:t>• T1: {A, C, D, E} (|T|=4) → Trọng số f^7 ≈ 0.4783</a:t>
            </a:r>
            <a:br/>
            <a:r>
              <a:t>• T2: {A, E, F} (|T|=3) → Trọng số f^6 ≈ 0.5314</a:t>
            </a:r>
            <a:br/>
            <a:r>
              <a:t>• T3: {B, C, D, E} (|T|=4) → Trọng số f^5 ≈ 0.5905</a:t>
            </a:r>
            <a:br/>
            <a:r>
              <a:t>• T4: {C, D, F} (|T|=3) → Trọng số f^4 ≈ 0.6561</a:t>
            </a:r>
            <a:br/>
            <a:r>
              <a:t>• T5: {B, F} (|T|=2) → Trọng số f^3 = 0.7290</a:t>
            </a:r>
            <a:br/>
            <a:r>
              <a:t>• T6: {D, E, F} (|T|=3) → Trọng số f^2 = 0.8100</a:t>
            </a:r>
            <a:br/>
            <a:r>
              <a:t>• T7: {A, B, C, F} (|T|=4) → Trọng số f^1 = 0.9000</a:t>
            </a:r>
            <a:br/>
            <a:r>
              <a:t>• T8: {A, E, G} (|T|=3) → Trọng số f^0 = 1.0000 (Mới nhất)</a:t>
            </a:r>
            <a:br/>
            <a:br/>
            <a:r>
              <a:t>★ Ràng buộc One-Scan: Quét mỗi giao dịch đúng 1 lần, không đọc lại quá khứ!</a:t>
            </a:r>
          </a:p>
        </p:txBody>
      </p:sp>
      <p:sp>
        <p:nvSpPr>
          <p:cNvPr id="8" name="Rounded Rectangle 7"/>
          <p:cNvSpPr/>
          <p:nvPr/>
        </p:nvSpPr>
        <p:spPr>
          <a:xfrm>
            <a:off x="6217920" y="1280160"/>
            <a:ext cx="521208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4846320" cy="365760"/>
          </a:xfrm>
          <a:prstGeom prst="rect">
            <a:avLst/>
          </a:prstGeom>
          <a:noFill/>
        </p:spPr>
        <p:txBody>
          <a:bodyPr wrap="none">
            <a:spAutoFit/>
          </a:bodyPr>
          <a:lstStyle/>
          <a:p>
            <a:pPr>
              <a:defRPr sz="1350" b="1">
                <a:solidFill>
                  <a:srgbClr val="1F4E79"/>
                </a:solidFill>
                <a:latin typeface="Arial"/>
              </a:defRPr>
            </a:pPr>
            <a:r>
              <a:t>🗄️ Cấu Trúc Bộ Nhớ Global DHO-List (Figure 2)</a:t>
            </a:r>
          </a:p>
        </p:txBody>
      </p:sp>
      <p:sp>
        <p:nvSpPr>
          <p:cNvPr id="10" name="TextBox 9"/>
          <p:cNvSpPr txBox="1"/>
          <p:nvPr/>
        </p:nvSpPr>
        <p:spPr>
          <a:xfrm>
            <a:off x="6400800" y="1828800"/>
            <a:ext cx="4846320" cy="4206240"/>
          </a:xfrm>
          <a:prstGeom prst="rect">
            <a:avLst/>
          </a:prstGeom>
          <a:noFill/>
        </p:spPr>
        <p:txBody>
          <a:bodyPr wrap="square">
            <a:spAutoFit/>
          </a:bodyPr>
          <a:lstStyle/>
          <a:p>
            <a:pPr>
              <a:defRPr sz="1150"/>
            </a:pPr>
            <a:r>
              <a:t>Mỗi Node lưu danh sách các cặp entry &lt;TID, |T_d|&gt;:</a:t>
            </a:r>
            <a:br/>
            <a:r>
              <a:t>• Node A: [&lt;1,4&gt;, &lt;2,3&gt;, &lt;7,4&gt;, &lt;8,3&gt;] (Support = 4)</a:t>
            </a:r>
            <a:br/>
            <a:r>
              <a:t>• Node B: [&lt;3,4&gt;, &lt;5,2&gt;, &lt;7,4&gt;] (Support = 3)</a:t>
            </a:r>
            <a:br/>
            <a:r>
              <a:t>• Node C: [&lt;1,4&gt;, &lt;3,4&gt;, &lt;4,3&gt;, &lt;7,4&gt;] (Support = 4)</a:t>
            </a:r>
            <a:br/>
            <a:r>
              <a:t>• Node D: [&lt;1,4&gt;, &lt;3,4&gt;, &lt;4,3&gt;, &lt;6,3&gt;] (Support = 4)</a:t>
            </a:r>
            <a:br/>
            <a:r>
              <a:t>• Node E: [&lt;1,4&gt;, &lt;2,3&gt;, &lt;3,4&gt;, &lt;6,3&gt;, &lt;8,3&gt;] (Support = 5)</a:t>
            </a:r>
            <a:br/>
            <a:r>
              <a:t>• Node F: [&lt;2,3&gt;, &lt;4,3&gt;, &lt;5,2&gt;, &lt;6,3&gt;, &lt;7,4&gt;] (Support = 5)</a:t>
            </a:r>
            <a:br/>
            <a:r>
              <a:t>• Node G: [&lt;8,3&gt;] (Support = 1)</a:t>
            </a:r>
            <a:br/>
            <a:br/>
            <a:r>
              <a:t>★ Ưu việt kiến trúc:</a:t>
            </a:r>
            <a:br/>
            <a:r>
              <a:t>• Mỗi entry chỉ tốn 8 bytes (2 int tid &amp; tlen).</a:t>
            </a:r>
            <a:br/>
            <a:r>
              <a:t>• Giảm bộ nhớ Peak RAM từ 350 MB xuống &lt; 45 MB (Tiết kiệm &gt; 78% RAM)!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5. Giai Đoạn 2: Tái Cấu Trúc Suy Giảm (f^(TL-Td)) &amp; Sắp Xếp Tăng Dần Support</a:t>
            </a:r>
          </a:p>
        </p:txBody>
      </p:sp>
      <p:sp>
        <p:nvSpPr>
          <p:cNvPr id="5" name="Rounded Rectangle 4"/>
          <p:cNvSpPr/>
          <p:nvPr/>
        </p:nvSpPr>
        <p:spPr>
          <a:xfrm>
            <a:off x="731520" y="1280160"/>
            <a:ext cx="5303520" cy="5029200"/>
          </a:xfrm>
          <a:prstGeom prst="roundRect">
            <a:avLst/>
          </a:prstGeom>
          <a:solidFill>
            <a:srgbClr val="FFFFFF"/>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937760" cy="365760"/>
          </a:xfrm>
          <a:prstGeom prst="rect">
            <a:avLst/>
          </a:prstGeom>
          <a:noFill/>
        </p:spPr>
        <p:txBody>
          <a:bodyPr wrap="none">
            <a:spAutoFit/>
          </a:bodyPr>
          <a:lstStyle/>
          <a:p>
            <a:pPr>
              <a:defRPr sz="1350" b="1">
                <a:solidFill>
                  <a:srgbClr val="1F4E79"/>
                </a:solidFill>
                <a:latin typeface="Arial"/>
              </a:defRPr>
            </a:pPr>
            <a:r>
              <a:t>🧮 Tính Damped Occupancy (DO) Mẫu Đơn</a:t>
            </a:r>
          </a:p>
        </p:txBody>
      </p:sp>
      <p:sp>
        <p:nvSpPr>
          <p:cNvPr id="7" name="TextBox 6"/>
          <p:cNvSpPr txBox="1"/>
          <p:nvPr/>
        </p:nvSpPr>
        <p:spPr>
          <a:xfrm>
            <a:off x="914400" y="1828800"/>
            <a:ext cx="4937760" cy="4206240"/>
          </a:xfrm>
          <a:prstGeom prst="rect">
            <a:avLst/>
          </a:prstGeom>
          <a:noFill/>
        </p:spPr>
        <p:txBody>
          <a:bodyPr wrap="square">
            <a:spAutoFit/>
          </a:bodyPr>
          <a:lstStyle/>
          <a:p>
            <a:pPr>
              <a:defRPr sz="1150"/>
            </a:pPr>
            <a:r>
              <a:t>Công thức DO: DO(i) = Σ (1/|T_d|) × f^(TL - T_d)</a:t>
            </a:r>
            <a:br/>
            <a:br/>
            <a:r>
              <a:t>Ví dụ thực tế Table 1 (TL = 8, f = 0.9, minSup = 1.20):</a:t>
            </a:r>
            <a:br/>
            <a:br/>
            <a:r>
              <a:t>• Mục F (T2, T4, T5, T6, T7):</a:t>
            </a:r>
            <a:br/>
            <a:r>
              <a:t>  DO(F) = 1/3×0.9^6 + 1/3×0.9^4 + 1/2×0.9^3 + 1/3×0.9^2 + 1/4×0.9^1</a:t>
            </a:r>
            <a:br/>
            <a:r>
              <a:t>        = 0.1771 + 0.2187 + 0.3645 + 0.2700 + 0.2250</a:t>
            </a:r>
            <a:br/>
            <a:r>
              <a:t>        = 1.2553 ≥ 1.20 → 🟢 ĐẠT CHUẨN DHOP!</a:t>
            </a:r>
            <a:br/>
            <a:br/>
            <a:r>
              <a:t>• Mục A: DO(A) = 0.8551 &lt; 1.20</a:t>
            </a:r>
            <a:br/>
            <a:r>
              <a:t>• Mục E: DO(E) = 1.0477 &lt; 1.20</a:t>
            </a:r>
            <a:br/>
            <a:r>
              <a:t>• Mục G: DO(G) = 0.3333 &lt; 1.20</a:t>
            </a:r>
          </a:p>
        </p:txBody>
      </p:sp>
      <p:sp>
        <p:nvSpPr>
          <p:cNvPr id="8" name="Rounded Rectangle 7"/>
          <p:cNvSpPr/>
          <p:nvPr/>
        </p:nvSpPr>
        <p:spPr>
          <a:xfrm>
            <a:off x="6217920" y="1280160"/>
            <a:ext cx="521208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4846320" cy="365760"/>
          </a:xfrm>
          <a:prstGeom prst="rect">
            <a:avLst/>
          </a:prstGeom>
          <a:noFill/>
        </p:spPr>
        <p:txBody>
          <a:bodyPr wrap="none">
            <a:spAutoFit/>
          </a:bodyPr>
          <a:lstStyle/>
          <a:p>
            <a:pPr>
              <a:defRPr sz="1350" b="1">
                <a:solidFill>
                  <a:srgbClr val="1F4E79"/>
                </a:solidFill>
                <a:latin typeface="Arial"/>
              </a:defRPr>
            </a:pPr>
            <a:r>
              <a:t>📈 Chiến Lược Sắp Xếp Support Tăng Dần</a:t>
            </a:r>
          </a:p>
        </p:txBody>
      </p:sp>
      <p:sp>
        <p:nvSpPr>
          <p:cNvPr id="10" name="TextBox 9"/>
          <p:cNvSpPr txBox="1"/>
          <p:nvPr/>
        </p:nvSpPr>
        <p:spPr>
          <a:xfrm>
            <a:off x="6400800" y="1828800"/>
            <a:ext cx="4846320" cy="4206240"/>
          </a:xfrm>
          <a:prstGeom prst="rect">
            <a:avLst/>
          </a:prstGeom>
          <a:noFill/>
        </p:spPr>
        <p:txBody>
          <a:bodyPr wrap="square">
            <a:spAutoFit/>
          </a:bodyPr>
          <a:lstStyle/>
          <a:p>
            <a:pPr>
              <a:defRPr sz="1200"/>
            </a:pPr>
            <a:r>
              <a:t>Thứ tự xử lý được sắp xếp tăng dần theo Support:</a:t>
            </a:r>
            <a:br/>
            <a:r>
              <a:t>G(1) ≺ B(3) ≺ A(4) ≺ C(4) ≺ D(4) ≺ E(5) ≺ F(5)</a:t>
            </a:r>
            <a:br/>
            <a:br/>
            <a:r>
              <a:t>★ NGUYÊN LÝ CẮT TỈA SỚM TỪ GỐC (EARLY PRUNING):</a:t>
            </a:r>
            <a:br/>
            <a:br/>
            <a:r>
              <a:t>• Mục hiếm (support thấp) có rất ít giao dịch chung với các mục khác.</a:t>
            </a:r>
            <a:br/>
            <a:br/>
            <a:r>
              <a:t>• Đưa mục hiếm lên đầu cây duyệt DFS giúp điều kiện DUBO &lt; minSup kích hoạt ngay tại tầng cao nhất của cây.</a:t>
            </a:r>
            <a:br/>
            <a:br/>
            <a:r>
              <a:t>• Triệt tiêu bùng nổ tổ hợp, loại bỏ hơn 60% nhánh vô vọng ngay từ đầu!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6. Giai Đoạn 3: Cây Duyệt Đệ Quy DFS &amp; Định Lý Cắt Tỉa An Toàn DUBO</a:t>
            </a:r>
          </a:p>
        </p:txBody>
      </p:sp>
      <p:sp>
        <p:nvSpPr>
          <p:cNvPr id="5" name="Rounded Rectangle 4"/>
          <p:cNvSpPr/>
          <p:nvPr/>
        </p:nvSpPr>
        <p:spPr>
          <a:xfrm>
            <a:off x="731520" y="1280160"/>
            <a:ext cx="5303520" cy="5029200"/>
          </a:xfrm>
          <a:prstGeom prst="roundRect">
            <a:avLst/>
          </a:prstGeom>
          <a:solidFill>
            <a:srgbClr val="FFFFFF"/>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937760" cy="365760"/>
          </a:xfrm>
          <a:prstGeom prst="rect">
            <a:avLst/>
          </a:prstGeom>
          <a:noFill/>
        </p:spPr>
        <p:txBody>
          <a:bodyPr wrap="none">
            <a:spAutoFit/>
          </a:bodyPr>
          <a:lstStyle/>
          <a:p>
            <a:pPr>
              <a:defRPr sz="1350" b="1">
                <a:solidFill>
                  <a:srgbClr val="1F4E79"/>
                </a:solidFill>
                <a:latin typeface="Arial"/>
              </a:defRPr>
            </a:pPr>
            <a:r>
              <a:t>🛑 Định Lý Cắt Tỉa An Toàn DUBO (Pruning Theorem)</a:t>
            </a:r>
          </a:p>
        </p:txBody>
      </p:sp>
      <p:sp>
        <p:nvSpPr>
          <p:cNvPr id="7" name="TextBox 6"/>
          <p:cNvSpPr txBox="1"/>
          <p:nvPr/>
        </p:nvSpPr>
        <p:spPr>
          <a:xfrm>
            <a:off x="914400" y="1828800"/>
            <a:ext cx="4937760" cy="4206240"/>
          </a:xfrm>
          <a:prstGeom prst="rect">
            <a:avLst/>
          </a:prstGeom>
          <a:noFill/>
        </p:spPr>
        <p:txBody>
          <a:bodyPr wrap="square">
            <a:spAutoFit/>
          </a:bodyPr>
          <a:lstStyle/>
          <a:p>
            <a:pPr>
              <a:defRPr sz="1150"/>
            </a:pPr>
            <a:r>
              <a:t>Vì Occupancy phi đơn điệu (thêm item có thể tăng Occupancy), bài báo thiết lập cận trên DUBO:</a:t>
            </a:r>
            <a:br/>
            <a:br/>
            <a:r>
              <a:t>• Công thức: DUBO(X) = Σ f^(TL - T_d) với T_d ∈ list(X).</a:t>
            </a:r>
            <a:br/>
            <a:r>
              <a:t>• Bảo toàn tuyệt đối: ∀ X' ⊃ X → DO(X') ≤ DUBO(X).</a:t>
            </a:r>
            <a:br/>
            <a:br/>
            <a:r>
              <a:t>★ ĐIỀU KIỆN CẮT TỈA:</a:t>
            </a:r>
            <a:br/>
            <a:r>
              <a:t>Nếu DUBO(X) &lt; minSup:</a:t>
            </a:r>
            <a:br/>
            <a:r>
              <a:t>→ Chắc chắn mọi siêu mẫu X' chứa X đều có DO(X') &lt; minSup!</a:t>
            </a:r>
            <a:br/>
            <a:r>
              <a:t>→ CẮT TỈA NGAY LẬP TỨC toàn bộ cây con xuất phát từ X (Zero False Negatives)!</a:t>
            </a:r>
            <a:br/>
            <a:br/>
            <a:r>
              <a:t>• Giảm 75% không gian tìm kiếm:</a:t>
            </a:r>
            <a:br/>
            <a:r>
              <a:t>  127 tổ hợp lý thuyết → chỉ duyệt 32 mẫu ứng viên!</a:t>
            </a:r>
          </a:p>
        </p:txBody>
      </p:sp>
      <p:sp>
        <p:nvSpPr>
          <p:cNvPr id="8" name="Rounded Rectangle 7"/>
          <p:cNvSpPr/>
          <p:nvPr/>
        </p:nvSpPr>
        <p:spPr>
          <a:xfrm>
            <a:off x="6217920" y="1280160"/>
            <a:ext cx="5212080" cy="502920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4846320" cy="365760"/>
          </a:xfrm>
          <a:prstGeom prst="rect">
            <a:avLst/>
          </a:prstGeom>
          <a:noFill/>
        </p:spPr>
        <p:txBody>
          <a:bodyPr wrap="none">
            <a:spAutoFit/>
          </a:bodyPr>
          <a:lstStyle/>
          <a:p>
            <a:pPr>
              <a:defRPr sz="1350" b="1">
                <a:solidFill>
                  <a:srgbClr val="1F4E79"/>
                </a:solidFill>
                <a:latin typeface="Arial"/>
              </a:defRPr>
            </a:pPr>
            <a:r>
              <a:t>🌳 Duyệt Cây DFS Thực Tế (Figure 3 &amp; Table 4)</a:t>
            </a:r>
          </a:p>
        </p:txBody>
      </p:sp>
      <p:sp>
        <p:nvSpPr>
          <p:cNvPr id="10" name="TextBox 9"/>
          <p:cNvSpPr txBox="1"/>
          <p:nvPr/>
        </p:nvSpPr>
        <p:spPr>
          <a:xfrm>
            <a:off x="6400800" y="1828800"/>
            <a:ext cx="4846320" cy="4206240"/>
          </a:xfrm>
          <a:prstGeom prst="rect">
            <a:avLst/>
          </a:prstGeom>
          <a:noFill/>
        </p:spPr>
        <p:txBody>
          <a:bodyPr wrap="square">
            <a:spAutoFit/>
          </a:bodyPr>
          <a:lstStyle/>
          <a:p>
            <a:pPr>
              <a:defRPr sz="1150"/>
            </a:pPr>
            <a:r>
              <a:t>Duyệt lần lượt các nhánh cây theo thứ tự sắp xếp:</a:t>
            </a:r>
            <a:br/>
            <a:br/>
            <a:r>
              <a:t>• Nhánh G: DUBO(G) = 1.00 &lt; 1.20 → ✂ CẮT TỈA NGAY TỪ GỐC!</a:t>
            </a:r>
            <a:br/>
            <a:r>
              <a:t>  (Không cần duyệt GA, GB, GC, GD, GE, GF).</a:t>
            </a:r>
            <a:br/>
            <a:br/>
            <a:r>
              <a:t>• Nhánh B: Mở rộng BA, BC... đều có DUBO &lt; 1.20 → ✂ Cắt tỉa sạch.</a:t>
            </a:r>
            <a:br/>
            <a:br/>
            <a:r>
              <a:t>• Nhánh A: Duyệt AE có list={T1, T2, T8}:</a:t>
            </a:r>
            <a:br/>
            <a:r>
              <a:t>  DO({AE}) = 1.2601 ≥ 1.20 → 🟢 MẪU DHOP {AE}!</a:t>
            </a:r>
            <a:br/>
            <a:r>
              <a:t>  Mở rộng AEF có DUBO = 0.53 &lt; 1.20 → ✂ Cắt tỉa.</a:t>
            </a:r>
            <a:br/>
            <a:br/>
            <a:r>
              <a:t>• Nhánh F: DO(F) = 1.2553 ≥ 1.20 → 🟢 MẪU DHOP {F}!</a:t>
            </a:r>
            <a:br/>
            <a:br/>
            <a:r>
              <a:t>★ Kết quả đối soát: Khớp 100% với Table 4 trong bài báo gốc!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7. Độ Đo Damped Occupancy (DO) &amp; Vai Trò Của Hệ Số f</a:t>
            </a:r>
          </a:p>
        </p:txBody>
      </p:sp>
      <p:sp>
        <p:nvSpPr>
          <p:cNvPr id="5" name="Rounded Rectangle 4"/>
          <p:cNvSpPr/>
          <p:nvPr/>
        </p:nvSpPr>
        <p:spPr>
          <a:xfrm>
            <a:off x="731520" y="1280160"/>
            <a:ext cx="530352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937760" cy="365760"/>
          </a:xfrm>
          <a:prstGeom prst="rect">
            <a:avLst/>
          </a:prstGeom>
          <a:noFill/>
        </p:spPr>
        <p:txBody>
          <a:bodyPr wrap="none">
            <a:spAutoFit/>
          </a:bodyPr>
          <a:lstStyle/>
          <a:p>
            <a:pPr>
              <a:defRPr sz="1350" b="1">
                <a:solidFill>
                  <a:srgbClr val="1F4E79"/>
                </a:solidFill>
                <a:latin typeface="Arial"/>
              </a:defRPr>
            </a:pPr>
            <a:r>
              <a:t>📊 Dữ Liệu Chuẩn Table 1 (TL = 8)</a:t>
            </a:r>
          </a:p>
        </p:txBody>
      </p:sp>
      <p:sp>
        <p:nvSpPr>
          <p:cNvPr id="7" name="TextBox 6"/>
          <p:cNvSpPr txBox="1"/>
          <p:nvPr/>
        </p:nvSpPr>
        <p:spPr>
          <a:xfrm>
            <a:off x="914400" y="1828800"/>
            <a:ext cx="4937760" cy="4206240"/>
          </a:xfrm>
          <a:prstGeom prst="rect">
            <a:avLst/>
          </a:prstGeom>
          <a:noFill/>
        </p:spPr>
        <p:txBody>
          <a:bodyPr wrap="square">
            <a:spAutoFit/>
          </a:bodyPr>
          <a:lstStyle/>
          <a:p>
            <a:pPr>
              <a:defRPr sz="1200"/>
            </a:pPr>
            <a:r>
              <a:t>• DB0 (Cũ nhất): T1 {A,C,D,E}, T2 {A,E,F}, T3 {B,C,D,E}, T4 {C,D,F}</a:t>
            </a:r>
            <a:br/>
            <a:r>
              <a:t>  Trọng số f^(8-Td): 0.9^7 ≈ 0.478, 0.9^6 ≈ 0.531, 0.9^5 ≈ 0.590...</a:t>
            </a:r>
          </a:p>
          <a:p>
            <a:br/>
            <a:pPr>
              <a:defRPr sz="1200"/>
            </a:pPr>
            <a:r>
              <a:t>• DB1 (Trung gian): T5 {B,F}, T6 {D,E,F}</a:t>
            </a:r>
            <a:br/>
            <a:r>
              <a:t>  Trọng số f^(8-Td): 0.9^3 = 0.729, 0.9^2 = 0.810</a:t>
            </a:r>
          </a:p>
          <a:p>
            <a:br/>
            <a:pPr>
              <a:defRPr sz="1200"/>
            </a:pPr>
            <a:r>
              <a:t>• DB2 (Mới nhất): T7 {A,B,C,F}, T8 {A,E,G}</a:t>
            </a:r>
            <a:br/>
            <a:r>
              <a:t>  Trọng số f^(8-Td): 0.9^1 = 0.900, 0.9^0 = 1.000 (100% giá trị)</a:t>
            </a:r>
          </a:p>
        </p:txBody>
      </p:sp>
      <p:sp>
        <p:nvSpPr>
          <p:cNvPr id="8" name="Rounded Rectangle 7"/>
          <p:cNvSpPr/>
          <p:nvPr/>
        </p:nvSpPr>
        <p:spPr>
          <a:xfrm>
            <a:off x="6217920" y="1280160"/>
            <a:ext cx="521208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4846320" cy="365760"/>
          </a:xfrm>
          <a:prstGeom prst="rect">
            <a:avLst/>
          </a:prstGeom>
          <a:noFill/>
        </p:spPr>
        <p:txBody>
          <a:bodyPr wrap="none">
            <a:spAutoFit/>
          </a:bodyPr>
          <a:lstStyle/>
          <a:p>
            <a:pPr>
              <a:defRPr sz="1350" b="1">
                <a:solidFill>
                  <a:srgbClr val="1F4E79"/>
                </a:solidFill>
                <a:latin typeface="Arial"/>
              </a:defRPr>
            </a:pPr>
            <a:r>
              <a:t>🔥 Chứng Minh Thực Nghiệm Vai Trò Của f</a:t>
            </a:r>
          </a:p>
        </p:txBody>
      </p:sp>
      <p:sp>
        <p:nvSpPr>
          <p:cNvPr id="10" name="TextBox 9"/>
          <p:cNvSpPr txBox="1"/>
          <p:nvPr/>
        </p:nvSpPr>
        <p:spPr>
          <a:xfrm>
            <a:off x="6400800" y="1828800"/>
            <a:ext cx="4846320" cy="4206240"/>
          </a:xfrm>
          <a:prstGeom prst="rect">
            <a:avLst/>
          </a:prstGeom>
          <a:noFill/>
        </p:spPr>
        <p:txBody>
          <a:bodyPr wrap="square">
            <a:spAutoFit/>
          </a:bodyPr>
          <a:lstStyle/>
          <a:p>
            <a:pPr>
              <a:defRPr sz="1250"/>
            </a:pPr>
            <a:r>
              <a:t>Khi f = 1.0 (Mô hình tĩnh không suy giảm):</a:t>
            </a:r>
            <a:br/>
            <a:r>
              <a:t>→ Có tới 9 mẫu đạt DHOP: {AE, F, CD, DE, BF, CDE, E, DF, EF}.</a:t>
            </a:r>
            <a:br/>
            <a:r>
              <a:t>→ Dữ liệu cũ từ T1, T3 vẫn được tính nguyên giá trị như mới.</a:t>
            </a:r>
          </a:p>
          <a:p>
            <a:br/>
            <a:pPr>
              <a:defRPr sz="1250"/>
            </a:pPr>
            <a:r>
              <a:t>Khi f = 0.9 (Mô hình luồng có suy giảm thời gian):</a:t>
            </a:r>
            <a:br/>
            <a:r>
              <a:t>→ Chỉ còn đúng 2 mẫu đạt DHOP: {AE} (DO=1.2601) và {F} (DO=1.2553).</a:t>
            </a:r>
            <a:br/>
            <a:r>
              <a:t>→ Các mẫu cũ như CD, DE, CDE bị suy thoái điểm số và rơi xuống dưới ngưỡng minSup = 1.2.</a:t>
            </a:r>
          </a:p>
          <a:p>
            <a:br/>
            <a:pPr>
              <a:defRPr sz="1250" b="1">
                <a:solidFill>
                  <a:srgbClr val="0E6251"/>
                </a:solidFill>
              </a:defRPr>
            </a:pPr>
            <a:r>
              <a:t>★ KẾT LUẬN QUAN TRỌNG:</a:t>
            </a:r>
            <a:br/>
            <a:r>
              <a:t>Hệ số f = 0.9 đã loại bỏ 77.8% các mẫu lỗi thời trong quá khứ, giúp doanh nghiệp chỉ tập trung vào các xu hướng thật sự nóng hổi!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8. Kiến Trúc Phần Mềm &amp; 9 Design Patterns Chuẩn Công Nghiệp</a:t>
            </a:r>
          </a:p>
        </p:txBody>
      </p:sp>
      <p:sp>
        <p:nvSpPr>
          <p:cNvPr id="5" name="Rounded Rectangle 4"/>
          <p:cNvSpPr/>
          <p:nvPr/>
        </p:nvSpPr>
        <p:spPr>
          <a:xfrm>
            <a:off x="731520" y="1280160"/>
            <a:ext cx="5120640" cy="237744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754880" cy="365760"/>
          </a:xfrm>
          <a:prstGeom prst="rect">
            <a:avLst/>
          </a:prstGeom>
          <a:noFill/>
        </p:spPr>
        <p:txBody>
          <a:bodyPr wrap="none">
            <a:spAutoFit/>
          </a:bodyPr>
          <a:lstStyle/>
          <a:p>
            <a:pPr>
              <a:defRPr sz="1350" b="1">
                <a:solidFill>
                  <a:srgbClr val="1F4E79"/>
                </a:solidFill>
                <a:latin typeface="Arial"/>
              </a:defRPr>
            </a:pPr>
            <a:r>
              <a:t>🌉 Bridge &amp; Adapter Pattern</a:t>
            </a:r>
          </a:p>
        </p:txBody>
      </p:sp>
      <p:sp>
        <p:nvSpPr>
          <p:cNvPr id="7" name="TextBox 6"/>
          <p:cNvSpPr txBox="1"/>
          <p:nvPr/>
        </p:nvSpPr>
        <p:spPr>
          <a:xfrm>
            <a:off x="914400" y="1737360"/>
            <a:ext cx="4754880" cy="1737360"/>
          </a:xfrm>
          <a:prstGeom prst="rect">
            <a:avLst/>
          </a:prstGeom>
          <a:noFill/>
        </p:spPr>
        <p:txBody>
          <a:bodyPr wrap="square">
            <a:spAutoFit/>
          </a:bodyPr>
          <a:lstStyle/>
          <a:p>
            <a:pPr>
              <a:defRPr sz="1150"/>
            </a:pPr>
            <a:r>
              <a:t>• MainController chỉ phụ thuộc vào Interface BridgeEngine.</a:t>
            </a:r>
            <a:br/>
            <a:r>
              <a:t>• TamSimulationBridge bọc engine DFS in-memory của Tâm.</a:t>
            </a:r>
            <a:br/>
            <a:r>
              <a:t>• TsonV1Bridge bọc engine tốc độ cao In-Process.</a:t>
            </a:r>
            <a:br/>
            <a:r>
              <a:t>• TsonTcpContractBridge bọc kết nối TCP Backend từ xa.</a:t>
            </a:r>
          </a:p>
        </p:txBody>
      </p:sp>
      <p:sp>
        <p:nvSpPr>
          <p:cNvPr id="8" name="Rounded Rectangle 7"/>
          <p:cNvSpPr/>
          <p:nvPr/>
        </p:nvSpPr>
        <p:spPr>
          <a:xfrm>
            <a:off x="6217920" y="1280160"/>
            <a:ext cx="5120640" cy="237744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4754880" cy="365760"/>
          </a:xfrm>
          <a:prstGeom prst="rect">
            <a:avLst/>
          </a:prstGeom>
          <a:noFill/>
        </p:spPr>
        <p:txBody>
          <a:bodyPr wrap="none">
            <a:spAutoFit/>
          </a:bodyPr>
          <a:lstStyle/>
          <a:p>
            <a:pPr>
              <a:defRPr sz="1350" b="1">
                <a:solidFill>
                  <a:srgbClr val="1F4E79"/>
                </a:solidFill>
                <a:latin typeface="Arial"/>
              </a:defRPr>
            </a:pPr>
            <a:r>
              <a:t>⚙️ Strategy &amp; Factory Method</a:t>
            </a:r>
          </a:p>
        </p:txBody>
      </p:sp>
      <p:sp>
        <p:nvSpPr>
          <p:cNvPr id="10" name="TextBox 9"/>
          <p:cNvSpPr txBox="1"/>
          <p:nvPr/>
        </p:nvSpPr>
        <p:spPr>
          <a:xfrm>
            <a:off x="6400800" y="1737360"/>
            <a:ext cx="4754880" cy="1737360"/>
          </a:xfrm>
          <a:prstGeom prst="rect">
            <a:avLst/>
          </a:prstGeom>
          <a:noFill/>
        </p:spPr>
        <p:txBody>
          <a:bodyPr wrap="square">
            <a:spAutoFit/>
          </a:bodyPr>
          <a:lstStyle/>
          <a:p>
            <a:pPr>
              <a:defRPr sz="1150"/>
            </a:pPr>
            <a:r>
              <a:t>• EngineMode (Enum): Định nghĩa chiến lược engine độc lập.</a:t>
            </a:r>
            <a:br/>
            <a:r>
              <a:t>• EngineFactory: Khởi tạo engine phù hợp tại Runtime.</a:t>
            </a:r>
            <a:br/>
            <a:r>
              <a:t>• Người dùng hoán đổi linh hoạt giữa Local DFS, In-Process và TCP Socket mà không cần khởi động lại ứng dụng.</a:t>
            </a:r>
          </a:p>
        </p:txBody>
      </p:sp>
      <p:sp>
        <p:nvSpPr>
          <p:cNvPr id="11" name="Rounded Rectangle 10"/>
          <p:cNvSpPr/>
          <p:nvPr/>
        </p:nvSpPr>
        <p:spPr>
          <a:xfrm>
            <a:off x="731520" y="3931920"/>
            <a:ext cx="5120640" cy="237744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754880" cy="365760"/>
          </a:xfrm>
          <a:prstGeom prst="rect">
            <a:avLst/>
          </a:prstGeom>
          <a:noFill/>
        </p:spPr>
        <p:txBody>
          <a:bodyPr wrap="none">
            <a:spAutoFit/>
          </a:bodyPr>
          <a:lstStyle/>
          <a:p>
            <a:pPr>
              <a:defRPr sz="1350" b="1">
                <a:solidFill>
                  <a:srgbClr val="1F4E79"/>
                </a:solidFill>
                <a:latin typeface="Arial"/>
              </a:defRPr>
            </a:pPr>
            <a:r>
              <a:t>📡 Observer Pattern &amp; Memento</a:t>
            </a:r>
          </a:p>
        </p:txBody>
      </p:sp>
      <p:sp>
        <p:nvSpPr>
          <p:cNvPr id="13" name="TextBox 12"/>
          <p:cNvSpPr txBox="1"/>
          <p:nvPr/>
        </p:nvSpPr>
        <p:spPr>
          <a:xfrm>
            <a:off x="914400" y="4389120"/>
            <a:ext cx="4754880" cy="1737360"/>
          </a:xfrm>
          <a:prstGeom prst="rect">
            <a:avLst/>
          </a:prstGeom>
          <a:noFill/>
        </p:spPr>
        <p:txBody>
          <a:bodyPr wrap="square">
            <a:spAutoFit/>
          </a:bodyPr>
          <a:lstStyle/>
          <a:p>
            <a:pPr>
              <a:defRPr sz="1150"/>
            </a:pPr>
            <a:r>
              <a:t>• MiningProgressListener: Báo cáo tiến độ và sự kiện JSONL.</a:t>
            </a:r>
            <a:br/>
            <a:r>
              <a:t>• Memento Pattern: Lưu trữ các snapshot lịch sử các lần chạy quét minSup (MiningHistoryManager).</a:t>
            </a:r>
            <a:br/>
            <a:r>
              <a:t>• Tác vụ chạy nền đa luồng, cập nhật an toàn qua Platform.runLater().</a:t>
            </a:r>
          </a:p>
        </p:txBody>
      </p:sp>
      <p:sp>
        <p:nvSpPr>
          <p:cNvPr id="14" name="Rounded Rectangle 13"/>
          <p:cNvSpPr/>
          <p:nvPr/>
        </p:nvSpPr>
        <p:spPr>
          <a:xfrm>
            <a:off x="6217920" y="3931920"/>
            <a:ext cx="5120640" cy="237744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754880" cy="365760"/>
          </a:xfrm>
          <a:prstGeom prst="rect">
            <a:avLst/>
          </a:prstGeom>
          <a:noFill/>
        </p:spPr>
        <p:txBody>
          <a:bodyPr wrap="none">
            <a:spAutoFit/>
          </a:bodyPr>
          <a:lstStyle/>
          <a:p>
            <a:pPr>
              <a:defRPr sz="1350" b="1">
                <a:solidFill>
                  <a:srgbClr val="1F4E79"/>
                </a:solidFill>
                <a:latin typeface="Arial"/>
              </a:defRPr>
            </a:pPr>
            <a:r>
              <a:t>🏛️ Monorepo, Singleton &amp; MVC Records</a:t>
            </a:r>
          </a:p>
        </p:txBody>
      </p:sp>
      <p:sp>
        <p:nvSpPr>
          <p:cNvPr id="16" name="TextBox 15"/>
          <p:cNvSpPr txBox="1"/>
          <p:nvPr/>
        </p:nvSpPr>
        <p:spPr>
          <a:xfrm>
            <a:off x="6400800" y="4389120"/>
            <a:ext cx="4754880" cy="1737360"/>
          </a:xfrm>
          <a:prstGeom prst="rect">
            <a:avLst/>
          </a:prstGeom>
          <a:noFill/>
        </p:spPr>
        <p:txBody>
          <a:bodyPr wrap="square">
            <a:spAutoFit/>
          </a:bodyPr>
          <a:lstStyle/>
          <a:p>
            <a:pPr>
              <a:defRPr sz="1150"/>
            </a:pPr>
            <a:r>
              <a:t>• dhopm-common: Module hợp đồng dùng chung, đảm bảo nguyên lý DIP.</a:t>
            </a:r>
            <a:br/>
            <a:r>
              <a:t>• Singleton: CalculationLogger và MiningHistoryManager duy nhất.</a:t>
            </a:r>
            <a:br/>
            <a:r>
              <a:t>• Modern Java Records: Entry, PatternResult, GoldenRow, TopItemStat.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9. Giao Thức TCP Socket Client &amp; Mạng Phân Tán (Protocol 1)</a:t>
            </a:r>
          </a:p>
        </p:txBody>
      </p:sp>
      <p:sp>
        <p:nvSpPr>
          <p:cNvPr id="5" name="Rounded Rectangle 4"/>
          <p:cNvSpPr/>
          <p:nvPr/>
        </p:nvSpPr>
        <p:spPr>
          <a:xfrm>
            <a:off x="731520" y="1280160"/>
            <a:ext cx="512064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754880" cy="365760"/>
          </a:xfrm>
          <a:prstGeom prst="rect">
            <a:avLst/>
          </a:prstGeom>
          <a:noFill/>
        </p:spPr>
        <p:txBody>
          <a:bodyPr wrap="none">
            <a:spAutoFit/>
          </a:bodyPr>
          <a:lstStyle/>
          <a:p>
            <a:pPr>
              <a:defRPr sz="1350" b="1">
                <a:solidFill>
                  <a:srgbClr val="1F4E79"/>
                </a:solidFill>
                <a:latin typeface="Arial"/>
              </a:defRPr>
            </a:pPr>
            <a:r>
              <a:t>🔌 TCP Cổng 7079 &amp; Quét Mạng Tự Động (LAN)</a:t>
            </a:r>
          </a:p>
        </p:txBody>
      </p:sp>
      <p:sp>
        <p:nvSpPr>
          <p:cNvPr id="7" name="TextBox 6"/>
          <p:cNvSpPr txBox="1"/>
          <p:nvPr/>
        </p:nvSpPr>
        <p:spPr>
          <a:xfrm>
            <a:off x="914400" y="1828800"/>
            <a:ext cx="4754880" cy="4206240"/>
          </a:xfrm>
          <a:prstGeom prst="rect">
            <a:avLst/>
          </a:prstGeom>
          <a:noFill/>
        </p:spPr>
        <p:txBody>
          <a:bodyPr wrap="square">
            <a:spAutoFit/>
          </a:bodyPr>
          <a:lstStyle/>
          <a:p>
            <a:pPr>
              <a:defRPr sz="1150"/>
            </a:pPr>
            <a:r>
              <a:t>• Chuẩn hóa Protocol 1 (CONTRACT.md):</a:t>
            </a:r>
            <a:br/>
            <a:r>
              <a:t>  Giao tiếp qua TCP Socket port 7079, gửi 1 dòng lệnh JSON và nhận stream sự kiện JSONL đa dòng.</a:t>
            </a:r>
            <a:br/>
            <a:br/>
            <a:r>
              <a:t>• Kết nối thực tế máy Tson (10.141.0.17:7079):</a:t>
            </a:r>
            <a:br/>
            <a:r>
              <a:t>  Tích hợp bảng cấu hình IP/Port trực tiếp trên GUI và tính năng 'Quét mạng (LAN)' đa luồng tự động tìm thấy backend trong 15ms.</a:t>
            </a:r>
            <a:br/>
            <a:br/>
            <a:r>
              <a:t>• Tích hợp Mock TCP Server nội bộ:</a:t>
            </a:r>
            <a:br/>
            <a:r>
              <a:t>  Lớp DhopmContractTcpServer chạy ngầm với CachedThreadPool giúp ứng dụng tự chủ kiểm thử độc lập mà không cần server ngoài.</a:t>
            </a:r>
            <a:br/>
            <a:br/>
            <a:r>
              <a:t>• Huy hiệu nguồn dữ liệu động (Data Source Badge):</a:t>
            </a:r>
            <a:br/>
            <a:r>
              <a:t>  🟢 BE (10.141.0.17:7079): Đang kết nối máy Tson.</a:t>
            </a:r>
            <a:br/>
            <a:r>
              <a:t>  🔵 Tson V1 (In-Process): Đang chạy engine nội bộ.</a:t>
            </a:r>
            <a:br/>
            <a:r>
              <a:t>  🟡 DEMO (Tâm 8 tx): Đang chạy mô phỏng.</a:t>
            </a:r>
          </a:p>
        </p:txBody>
      </p:sp>
      <p:sp>
        <p:nvSpPr>
          <p:cNvPr id="8" name="Rounded Rectangle 7"/>
          <p:cNvSpPr/>
          <p:nvPr/>
        </p:nvSpPr>
        <p:spPr>
          <a:xfrm>
            <a:off x="6217920" y="1280160"/>
            <a:ext cx="5212080" cy="5029200"/>
          </a:xfrm>
          <a:prstGeom prst="roundRect">
            <a:avLst/>
          </a:prstGeom>
          <a:solidFill>
            <a:srgbClr val="FFFFFF"/>
          </a:solidFill>
          <a:ln w="19050">
            <a:solidFill>
              <a:srgbClr val="0E62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4846320" cy="365760"/>
          </a:xfrm>
          <a:prstGeom prst="rect">
            <a:avLst/>
          </a:prstGeom>
          <a:noFill/>
        </p:spPr>
        <p:txBody>
          <a:bodyPr wrap="none">
            <a:spAutoFit/>
          </a:bodyPr>
          <a:lstStyle/>
          <a:p>
            <a:pPr>
              <a:defRPr sz="1350" b="1">
                <a:solidFill>
                  <a:srgbClr val="1F4E79"/>
                </a:solidFill>
                <a:latin typeface="Arial"/>
              </a:defRPr>
            </a:pPr>
            <a:r>
              <a:t>⚡ Thuật Toán Khử Trùng Lặp &amp; Phản Chiếu R14</a:t>
            </a:r>
          </a:p>
        </p:txBody>
      </p:sp>
      <p:sp>
        <p:nvSpPr>
          <p:cNvPr id="10" name="TextBox 9"/>
          <p:cNvSpPr txBox="1"/>
          <p:nvPr/>
        </p:nvSpPr>
        <p:spPr>
          <a:xfrm>
            <a:off x="6400800" y="1828800"/>
            <a:ext cx="4846320" cy="4206240"/>
          </a:xfrm>
          <a:prstGeom prst="rect">
            <a:avLst/>
          </a:prstGeom>
          <a:noFill/>
        </p:spPr>
        <p:txBody>
          <a:bodyPr wrap="square">
            <a:spAutoFit/>
          </a:bodyPr>
          <a:lstStyle/>
          <a:p>
            <a:pPr>
              <a:defRPr sz="1150"/>
            </a:pPr>
            <a:r>
              <a:t>• Bóc tách độ sâu ngoặc vuông JSON (depth tracking):</a:t>
            </a:r>
            <a:br/>
            <a:r>
              <a:t>  Ngắt chính xác tại mảng patterns đầu tiên, ngăn chặn hoàn toàn việc nuốt chửng mảng perVersion.v1 từ backend.</a:t>
            </a:r>
            <a:br/>
            <a:br/>
            <a:r>
              <a:t>• Thuật toán Khử trùng lặp (deduplicatePatterns):</a:t>
            </a:r>
            <a:br/>
            <a:r>
              <a:t>  Chuẩn hóa khóa canonicalItemsetKey theo thứ tự từ điển, loại bỏ mẫu trùng (từ 10 dòng lặp xuống 5 dòng chuẩn), giữ lại DO cao nhất.</a:t>
            </a:r>
            <a:br/>
            <a:br/>
            <a:r>
              <a:t>• Chuẩn hóa hiển thị normalizePattern:</a:t>
            </a:r>
            <a:br/>
            <a:r>
              <a:t>  Xử lý triệt để lỗi lồng ngoặc nhọn {{B, F}} về định dạng chuẩn {B, F}, bóc tách danh sách giao dịch TIDs.</a:t>
            </a:r>
            <a:br/>
            <a:br/>
            <a:r>
              <a:t>• Quy tắc R14 Phản chiếu tệp cục bộ (Local Mirroring):</a:t>
            </a:r>
            <a:br/>
            <a:r>
              <a:t>  Client tự động fetch và lưu tệp kết quả tại mine/mine_&lt;fileID&gt;.txt khớp 100% dữ liệu backend.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10. Cải Tiến Giao Diện Người Dùng Chuẩn Xác (Loại Bỏ Slider)</a:t>
            </a:r>
          </a:p>
        </p:txBody>
      </p:sp>
      <p:sp>
        <p:nvSpPr>
          <p:cNvPr id="5" name="Rounded Rectangle 4"/>
          <p:cNvSpPr/>
          <p:nvPr/>
        </p:nvSpPr>
        <p:spPr>
          <a:xfrm>
            <a:off x="731520" y="1280160"/>
            <a:ext cx="5120640" cy="5029200"/>
          </a:xfrm>
          <a:prstGeom prst="roundRect">
            <a:avLst/>
          </a:prstGeom>
          <a:solidFill>
            <a:srgbClr val="FFFFFF"/>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754880" cy="365760"/>
          </a:xfrm>
          <a:prstGeom prst="rect">
            <a:avLst/>
          </a:prstGeom>
          <a:noFill/>
        </p:spPr>
        <p:txBody>
          <a:bodyPr wrap="none">
            <a:spAutoFit/>
          </a:bodyPr>
          <a:lstStyle/>
          <a:p>
            <a:pPr>
              <a:defRPr sz="1350" b="1">
                <a:solidFill>
                  <a:srgbClr val="1F4E79"/>
                </a:solidFill>
                <a:latin typeface="Arial"/>
              </a:defRPr>
            </a:pPr>
            <a:r>
              <a:t>🎯 Loại Bỏ Slider &amp; Đào Tự Động Ngoài Ý Muốn</a:t>
            </a:r>
          </a:p>
        </p:txBody>
      </p:sp>
      <p:sp>
        <p:nvSpPr>
          <p:cNvPr id="7" name="TextBox 6"/>
          <p:cNvSpPr txBox="1"/>
          <p:nvPr/>
        </p:nvSpPr>
        <p:spPr>
          <a:xfrm>
            <a:off x="914400" y="1828800"/>
            <a:ext cx="4754880" cy="4206240"/>
          </a:xfrm>
          <a:prstGeom prst="rect">
            <a:avLst/>
          </a:prstGeom>
          <a:noFill/>
        </p:spPr>
        <p:txBody>
          <a:bodyPr wrap="square">
            <a:spAutoFit/>
          </a:bodyPr>
          <a:lstStyle/>
          <a:p>
            <a:pPr>
              <a:defRPr sz="1200"/>
            </a:pPr>
            <a:r>
              <a:t>• Vấn đề của Slider cũ:</a:t>
            </a:r>
            <a:br/>
            <a:r>
              <a:t>  Kéo trượt kích hoạt tính toán liên tục, gây lag và tràn luồng khi dữ liệu lớn.</a:t>
            </a:r>
            <a:br/>
            <a:br/>
            <a:r>
              <a:t>• Giải pháp Ô nhập TextField chuẩn xác:</a:t>
            </a:r>
            <a:br/>
            <a:r>
              <a:t>  - Decay Factor (f): Nhập chính xác 0.9 ∈ (0, 1].</a:t>
            </a:r>
            <a:br/>
            <a:r>
              <a:t>  - MinSup Ratio (∂): Nhập trực tiếp 0.2 ∈ (0, 1] hoặc %.</a:t>
            </a:r>
            <a:br/>
            <a:r>
              <a:t>  - MinOcc: Nhập chính xác giá trị thực tế (ẩn ở v1, hiện ở v2/v3).</a:t>
            </a:r>
            <a:br/>
            <a:r>
              <a:t>  - Limit: Nhập số lượng giới hạn mẫu trả về.</a:t>
            </a:r>
            <a:br/>
            <a:br/>
            <a:r>
              <a:t>• Chỉ tính toán khi nhấn nút:</a:t>
            </a:r>
            <a:br/>
            <a:r>
              <a:t>  Nút Khai phá (Mine) to nhất, nổi bật ở dưới cùng, phân bổ nút Dừng và Golden hàng trên hợp lý.</a:t>
            </a:r>
          </a:p>
        </p:txBody>
      </p:sp>
      <p:sp>
        <p:nvSpPr>
          <p:cNvPr id="8" name="Rounded Rectangle 7"/>
          <p:cNvSpPr/>
          <p:nvPr/>
        </p:nvSpPr>
        <p:spPr>
          <a:xfrm>
            <a:off x="6217920" y="1280160"/>
            <a:ext cx="521208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4846320" cy="365760"/>
          </a:xfrm>
          <a:prstGeom prst="rect">
            <a:avLst/>
          </a:prstGeom>
          <a:noFill/>
        </p:spPr>
        <p:txBody>
          <a:bodyPr wrap="none">
            <a:spAutoFit/>
          </a:bodyPr>
          <a:lstStyle/>
          <a:p>
            <a:pPr>
              <a:defRPr sz="1350" b="1">
                <a:solidFill>
                  <a:srgbClr val="1F4E79"/>
                </a:solidFill>
                <a:latin typeface="Arial"/>
              </a:defRPr>
            </a:pPr>
            <a:r>
              <a:t>📋 100% Native TableView &amp; Cô Lập Demo Panel</a:t>
            </a:r>
          </a:p>
        </p:txBody>
      </p:sp>
      <p:sp>
        <p:nvSpPr>
          <p:cNvPr id="10" name="TextBox 9"/>
          <p:cNvSpPr txBox="1"/>
          <p:nvPr/>
        </p:nvSpPr>
        <p:spPr>
          <a:xfrm>
            <a:off x="6400800" y="1828800"/>
            <a:ext cx="4846320" cy="4206240"/>
          </a:xfrm>
          <a:prstGeom prst="rect">
            <a:avLst/>
          </a:prstGeom>
          <a:noFill/>
        </p:spPr>
        <p:txBody>
          <a:bodyPr wrap="square">
            <a:spAutoFit/>
          </a:bodyPr>
          <a:lstStyle/>
          <a:p>
            <a:pPr>
              <a:defRPr sz="1200"/>
            </a:pPr>
            <a:r>
              <a:t>• Loại bỏ hoàn toàn Terminal Console:</a:t>
            </a:r>
            <a:br/>
            <a:r>
              <a:t>  Không còn màn hình đen trắng bị lệch font Unicode trên macOS; thay thế bằng TableView native sang trọng.</a:t>
            </a:r>
            <a:br/>
            <a:br/>
            <a:r>
              <a:t>• Bảng Mẫu Khai Phá Đa Cột:</a:t>
            </a:r>
            <a:br/>
            <a:r>
              <a:t>  Hiển thị STT, Itemset X (in đậm tím), DO(X), Support, Độ dài |X|, TIDs.</a:t>
            </a:r>
            <a:br/>
            <a:br/>
            <a:r>
              <a:t>• Cô lập Panel 2 cho Luồng Demo:</a:t>
            </a:r>
            <a:br/>
            <a:r>
              <a:t>  Panel 2 được gắn nhãn minh bạch '📡 LUỒNG DỮ LIỆU [DEMO TÂM]', tách biệt hoàn toàn dữ liệu demo 8 giao dịch khỏi các lượt benchmark Big Data thật.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11. Tính Năng Đột Phá: Quét minSup Sweep &amp; Calculation Logger</a:t>
            </a:r>
          </a:p>
        </p:txBody>
      </p:sp>
      <p:sp>
        <p:nvSpPr>
          <p:cNvPr id="5" name="Rounded Rectangle 4"/>
          <p:cNvSpPr/>
          <p:nvPr/>
        </p:nvSpPr>
        <p:spPr>
          <a:xfrm>
            <a:off x="731520" y="1280160"/>
            <a:ext cx="512064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754880" cy="365760"/>
          </a:xfrm>
          <a:prstGeom prst="rect">
            <a:avLst/>
          </a:prstGeom>
          <a:noFill/>
        </p:spPr>
        <p:txBody>
          <a:bodyPr wrap="none">
            <a:spAutoFit/>
          </a:bodyPr>
          <a:lstStyle/>
          <a:p>
            <a:pPr>
              <a:defRPr sz="1350" b="1">
                <a:solidFill>
                  <a:srgbClr val="1F4E79"/>
                </a:solidFill>
                <a:latin typeface="Arial"/>
              </a:defRPr>
            </a:pPr>
            <a:r>
              <a:t>📈 Quét Ngưỡng minSup Sweep (Chuẩn Bài Báo)</a:t>
            </a:r>
          </a:p>
        </p:txBody>
      </p:sp>
      <p:sp>
        <p:nvSpPr>
          <p:cNvPr id="7" name="TextBox 6"/>
          <p:cNvSpPr txBox="1"/>
          <p:nvPr/>
        </p:nvSpPr>
        <p:spPr>
          <a:xfrm>
            <a:off x="914400" y="1828800"/>
            <a:ext cx="4754880" cy="4206240"/>
          </a:xfrm>
          <a:prstGeom prst="rect">
            <a:avLst/>
          </a:prstGeom>
          <a:noFill/>
        </p:spPr>
        <p:txBody>
          <a:bodyPr wrap="square">
            <a:spAutoFit/>
          </a:bodyPr>
          <a:lstStyle/>
          <a:p>
            <a:pPr>
              <a:defRPr sz="1200"/>
            </a:pPr>
            <a:r>
              <a:t>• Tự động lặp qua dải ngưỡng ∂ (5% – 50%):</a:t>
            </a:r>
            <a:br/>
            <a:r>
              <a:t>  Khảo sát toàn diện động thái thuật toán khi thay đổi độ khắt khe của ngưỡng lọc.</a:t>
            </a:r>
            <a:br/>
            <a:br/>
            <a:r>
              <a:t>• Tái hiện 3 Biểu đồ Chuẩn Bài Báo EAAI 2026:</a:t>
            </a:r>
            <a:br/>
            <a:r>
              <a:t>  - Figure 6: Số lượng mẫu DHOP &amp; Tỷ lệ cắt tỉa DUBO theo minSup.</a:t>
            </a:r>
            <a:br/>
            <a:r>
              <a:t>  - Figure 11: Thời gian thực thi (Runtime ms) giảm hàm mũ.</a:t>
            </a:r>
            <a:br/>
            <a:r>
              <a:t>  - Figure 13: Bộ nhớ đỉnh (Peak Heap RAM MB).</a:t>
            </a:r>
            <a:br/>
            <a:br/>
            <a:r>
              <a:t>• Xóa bỏ số liệu giả lập:</a:t>
            </a:r>
            <a:br/>
            <a:r>
              <a:t>  Toàn bộ chỉ số đều đo lường trực tiếp từ engine và đã được kiểm chứng bằng ChartPaperVerificationTest.</a:t>
            </a:r>
          </a:p>
        </p:txBody>
      </p:sp>
      <p:sp>
        <p:nvSpPr>
          <p:cNvPr id="8" name="Rounded Rectangle 7"/>
          <p:cNvSpPr/>
          <p:nvPr/>
        </p:nvSpPr>
        <p:spPr>
          <a:xfrm>
            <a:off x="6217920" y="1280160"/>
            <a:ext cx="5212080" cy="5029200"/>
          </a:xfrm>
          <a:prstGeom prst="roundRect">
            <a:avLst/>
          </a:prstGeom>
          <a:solidFill>
            <a:srgbClr val="FFFFFF"/>
          </a:solidFill>
          <a:ln w="19050">
            <a:solidFill>
              <a:srgbClr val="0E62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4846320" cy="365760"/>
          </a:xfrm>
          <a:prstGeom prst="rect">
            <a:avLst/>
          </a:prstGeom>
          <a:noFill/>
        </p:spPr>
        <p:txBody>
          <a:bodyPr wrap="none">
            <a:spAutoFit/>
          </a:bodyPr>
          <a:lstStyle/>
          <a:p>
            <a:pPr>
              <a:defRPr sz="1350" b="1">
                <a:solidFill>
                  <a:srgbClr val="1F4E79"/>
                </a:solidFill>
                <a:latin typeface="Arial"/>
              </a:defRPr>
            </a:pPr>
            <a:r>
              <a:t>📝 Nhật Ký Chi Tiết Phép Toán (Tab 6)</a:t>
            </a:r>
          </a:p>
        </p:txBody>
      </p:sp>
      <p:sp>
        <p:nvSpPr>
          <p:cNvPr id="10" name="TextBox 9"/>
          <p:cNvSpPr txBox="1"/>
          <p:nvPr/>
        </p:nvSpPr>
        <p:spPr>
          <a:xfrm>
            <a:off x="6400800" y="1828800"/>
            <a:ext cx="4846320" cy="4206240"/>
          </a:xfrm>
          <a:prstGeom prst="rect">
            <a:avLst/>
          </a:prstGeom>
          <a:noFill/>
        </p:spPr>
        <p:txBody>
          <a:bodyPr wrap="square">
            <a:spAutoFit/>
          </a:bodyPr>
          <a:lstStyle/>
          <a:p>
            <a:pPr>
              <a:defRPr sz="1200"/>
            </a:pPr>
            <a:r>
              <a:t>• Ghi nhận chi tiết từng bước tính toán:</a:t>
            </a:r>
            <a:br/>
            <a:r>
              <a:t>  - Pha 1: Nạp giao dịch &amp; cập nhật trọng số luồng f^(TL-Td).</a:t>
            </a:r>
            <a:br/>
            <a:r>
              <a:t>  - Pha 2: Tính DO(X) và cận trên DUBO(X).</a:t>
            </a:r>
            <a:br/>
            <a:r>
              <a:t>  - Pha 3: Duyệt cây đệ quy DFS &amp; quyết định Cắt tỉa (Prune).</a:t>
            </a:r>
            <a:br/>
            <a:br/>
            <a:r>
              <a:t>• Công cụ hỗ trợ học tập &amp; giảng dạy:</a:t>
            </a:r>
            <a:br/>
            <a:r>
              <a:t>  - Tìm kiếm và lọc theo từng pha tính toán.</a:t>
            </a:r>
            <a:br/>
            <a:r>
              <a:t>  - Sao chép toàn bộ log định dạng chuẩn vào Clipboard.</a:t>
            </a:r>
            <a:br/>
            <a:r>
              <a:t>  - Ô Inspector giải thích chi tiết lý do mẫu được chọn/bị loại.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12. Bảng Đối Soát Toàn Diện 3 Cột (3-Column Reconciliation)</a:t>
            </a:r>
          </a:p>
        </p:txBody>
      </p:sp>
      <p:sp>
        <p:nvSpPr>
          <p:cNvPr id="5" name="Rounded Rectangle 4"/>
          <p:cNvSpPr/>
          <p:nvPr/>
        </p:nvSpPr>
        <p:spPr>
          <a:xfrm>
            <a:off x="731520" y="1280160"/>
            <a:ext cx="329184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2926080" cy="365760"/>
          </a:xfrm>
          <a:prstGeom prst="rect">
            <a:avLst/>
          </a:prstGeom>
          <a:noFill/>
        </p:spPr>
        <p:txBody>
          <a:bodyPr wrap="none">
            <a:spAutoFit/>
          </a:bodyPr>
          <a:lstStyle/>
          <a:p>
            <a:pPr>
              <a:defRPr sz="1350" b="1">
                <a:solidFill>
                  <a:srgbClr val="1F4E79"/>
                </a:solidFill>
                <a:latin typeface="Arial"/>
              </a:defRPr>
            </a:pPr>
            <a:r>
              <a:t>1. Tâm DFS Client</a:t>
            </a:r>
          </a:p>
        </p:txBody>
      </p:sp>
      <p:sp>
        <p:nvSpPr>
          <p:cNvPr id="7" name="TextBox 6"/>
          <p:cNvSpPr txBox="1"/>
          <p:nvPr/>
        </p:nvSpPr>
        <p:spPr>
          <a:xfrm>
            <a:off x="914400" y="1828800"/>
            <a:ext cx="2926080" cy="4114800"/>
          </a:xfrm>
          <a:prstGeom prst="rect">
            <a:avLst/>
          </a:prstGeom>
          <a:noFill/>
        </p:spPr>
        <p:txBody>
          <a:bodyPr wrap="square">
            <a:spAutoFit/>
          </a:bodyPr>
          <a:lstStyle/>
          <a:p>
            <a:pPr>
              <a:defRPr sz="1200"/>
            </a:pPr>
            <a:r>
              <a:t>• Bản chất: In-Memory DFS</a:t>
            </a:r>
            <a:br/>
            <a:r>
              <a:t>• Mục đích: Nghiên cứu, kiểm chứng từng bước đệ quy.</a:t>
            </a:r>
            <a:br/>
            <a:r>
              <a:t>• Dataset: Table 1 (TL = 8)</a:t>
            </a:r>
            <a:br/>
            <a:r>
              <a:t>• Kết quả (f=0.9, ∂=0.15):</a:t>
            </a:r>
            <a:br/>
            <a:r>
              <a:t>  {AE}: DO = 1.2601</a:t>
            </a:r>
            <a:br/>
            <a:r>
              <a:t>  {F}:  DO = 1.2553</a:t>
            </a:r>
            <a:br/>
            <a:r>
              <a:t>• Tổng mẫu: 2 DHOPs</a:t>
            </a:r>
            <a:br/>
            <a:r>
              <a:t>• Đánh giá: Khớp 100% bài báo!</a:t>
            </a:r>
          </a:p>
        </p:txBody>
      </p:sp>
      <p:sp>
        <p:nvSpPr>
          <p:cNvPr id="8" name="Rounded Rectangle 7"/>
          <p:cNvSpPr/>
          <p:nvPr/>
        </p:nvSpPr>
        <p:spPr>
          <a:xfrm>
            <a:off x="4389120" y="1280160"/>
            <a:ext cx="3291840" cy="502920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417320"/>
            <a:ext cx="2926080" cy="365760"/>
          </a:xfrm>
          <a:prstGeom prst="rect">
            <a:avLst/>
          </a:prstGeom>
          <a:noFill/>
        </p:spPr>
        <p:txBody>
          <a:bodyPr wrap="none">
            <a:spAutoFit/>
          </a:bodyPr>
          <a:lstStyle/>
          <a:p>
            <a:pPr>
              <a:defRPr sz="1350" b="1">
                <a:solidFill>
                  <a:srgbClr val="1F4E79"/>
                </a:solidFill>
                <a:latin typeface="Arial"/>
              </a:defRPr>
            </a:pPr>
            <a:r>
              <a:t>2. Tson In-Process</a:t>
            </a:r>
          </a:p>
        </p:txBody>
      </p:sp>
      <p:sp>
        <p:nvSpPr>
          <p:cNvPr id="10" name="TextBox 9"/>
          <p:cNvSpPr txBox="1"/>
          <p:nvPr/>
        </p:nvSpPr>
        <p:spPr>
          <a:xfrm>
            <a:off x="4572000" y="1828800"/>
            <a:ext cx="2926080" cy="4114800"/>
          </a:xfrm>
          <a:prstGeom prst="rect">
            <a:avLst/>
          </a:prstGeom>
          <a:noFill/>
        </p:spPr>
        <p:txBody>
          <a:bodyPr wrap="square">
            <a:spAutoFit/>
          </a:bodyPr>
          <a:lstStyle/>
          <a:p>
            <a:pPr>
              <a:defRPr sz="1200"/>
            </a:pPr>
            <a:r>
              <a:t>• Bản chất: Engine Java nội bộ</a:t>
            </a:r>
            <a:br/>
            <a:r>
              <a:t>• Mục đích: Khai phá tốc độ cao offline không cần mạng.</a:t>
            </a:r>
            <a:br/>
            <a:r>
              <a:t>• Dataset: Table 1 (TL = 8)</a:t>
            </a:r>
            <a:br/>
            <a:r>
              <a:t>• Kết quả (f=0.9, ∂=0.15):</a:t>
            </a:r>
            <a:br/>
            <a:r>
              <a:t>  {AE}: DO = 1.2601</a:t>
            </a:r>
            <a:br/>
            <a:r>
              <a:t>  {F}:  DO = 1.2553</a:t>
            </a:r>
            <a:br/>
            <a:r>
              <a:t>• Tổng mẫu: 2 DHOPs</a:t>
            </a:r>
            <a:br/>
            <a:r>
              <a:t>• Đánh giá: Trùng khớp tuyệt đối!</a:t>
            </a:r>
          </a:p>
        </p:txBody>
      </p:sp>
      <p:sp>
        <p:nvSpPr>
          <p:cNvPr id="11" name="Rounded Rectangle 10"/>
          <p:cNvSpPr/>
          <p:nvPr/>
        </p:nvSpPr>
        <p:spPr>
          <a:xfrm>
            <a:off x="8046720" y="1280160"/>
            <a:ext cx="3291840" cy="5029200"/>
          </a:xfrm>
          <a:prstGeom prst="roundRect">
            <a:avLst/>
          </a:prstGeom>
          <a:solidFill>
            <a:srgbClr val="FFFFFF"/>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417320"/>
            <a:ext cx="2926080" cy="365760"/>
          </a:xfrm>
          <a:prstGeom prst="rect">
            <a:avLst/>
          </a:prstGeom>
          <a:noFill/>
        </p:spPr>
        <p:txBody>
          <a:bodyPr wrap="none">
            <a:spAutoFit/>
          </a:bodyPr>
          <a:lstStyle/>
          <a:p>
            <a:pPr>
              <a:defRPr sz="1350" b="1">
                <a:solidFill>
                  <a:srgbClr val="1F4E79"/>
                </a:solidFill>
                <a:latin typeface="Arial"/>
              </a:defRPr>
            </a:pPr>
            <a:r>
              <a:t>3. Tson TCP Backend</a:t>
            </a:r>
          </a:p>
        </p:txBody>
      </p:sp>
      <p:sp>
        <p:nvSpPr>
          <p:cNvPr id="13" name="TextBox 12"/>
          <p:cNvSpPr txBox="1"/>
          <p:nvPr/>
        </p:nvSpPr>
        <p:spPr>
          <a:xfrm>
            <a:off x="8229600" y="1828800"/>
            <a:ext cx="2926080" cy="4114800"/>
          </a:xfrm>
          <a:prstGeom prst="rect">
            <a:avLst/>
          </a:prstGeom>
          <a:noFill/>
        </p:spPr>
        <p:txBody>
          <a:bodyPr wrap="square">
            <a:spAutoFit/>
          </a:bodyPr>
          <a:lstStyle/>
          <a:p>
            <a:pPr>
              <a:defRPr sz="1200"/>
            </a:pPr>
            <a:r>
              <a:t>• Bản chất: Microservice TCP:7079</a:t>
            </a:r>
            <a:br/>
            <a:r>
              <a:t>• Mục đích: Xử lý dữ liệu lớn, stream sự kiện JSONL.</a:t>
            </a:r>
            <a:br/>
            <a:r>
              <a:t>• Dataset: Table 1 (TL = 8)</a:t>
            </a:r>
            <a:br/>
            <a:r>
              <a:t>• Kết quả (f=0.9, ∂=0.15):</a:t>
            </a:r>
            <a:br/>
            <a:r>
              <a:t>  {AE}: DO = 1.2601</a:t>
            </a:r>
            <a:br/>
            <a:r>
              <a:t>  {F}:  DO = 1.2553</a:t>
            </a:r>
            <a:br/>
            <a:r>
              <a:t>• Tổng mẫu: 2 DHOPs</a:t>
            </a:r>
            <a:br/>
            <a:r>
              <a:t>• R14: Mirror mine_&lt;id&gt;.txt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13. Kết Quả Kiểm Thử (63/63 Tests PASS) &amp; Ma Trận Golden</a:t>
            </a:r>
          </a:p>
        </p:txBody>
      </p:sp>
      <p:sp>
        <p:nvSpPr>
          <p:cNvPr id="5" name="Rounded Rectangle 4"/>
          <p:cNvSpPr/>
          <p:nvPr/>
        </p:nvSpPr>
        <p:spPr>
          <a:xfrm>
            <a:off x="731520" y="1280160"/>
            <a:ext cx="393192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3566160" cy="365760"/>
          </a:xfrm>
          <a:prstGeom prst="rect">
            <a:avLst/>
          </a:prstGeom>
          <a:noFill/>
        </p:spPr>
        <p:txBody>
          <a:bodyPr wrap="none">
            <a:spAutoFit/>
          </a:bodyPr>
          <a:lstStyle/>
          <a:p>
            <a:pPr>
              <a:defRPr sz="1350" b="1">
                <a:solidFill>
                  <a:srgbClr val="1F4E79"/>
                </a:solidFill>
                <a:latin typeface="Arial"/>
              </a:defRPr>
            </a:pPr>
            <a:r>
              <a:t>✅ 63/63 Unit Tests PASS 100%</a:t>
            </a:r>
          </a:p>
        </p:txBody>
      </p:sp>
      <p:sp>
        <p:nvSpPr>
          <p:cNvPr id="7" name="TextBox 6"/>
          <p:cNvSpPr txBox="1"/>
          <p:nvPr/>
        </p:nvSpPr>
        <p:spPr>
          <a:xfrm>
            <a:off x="914400" y="1828800"/>
            <a:ext cx="3566160" cy="4206240"/>
          </a:xfrm>
          <a:prstGeom prst="rect">
            <a:avLst/>
          </a:prstGeom>
          <a:noFill/>
        </p:spPr>
        <p:txBody>
          <a:bodyPr wrap="square">
            <a:spAutoFit/>
          </a:bodyPr>
          <a:lstStyle/>
          <a:p>
            <a:pPr>
              <a:defRPr sz="1000"/>
            </a:pPr>
            <a:r>
              <a:t>• 63/63 Tests PASS (BUILD SUCCESS):</a:t>
            </a:r>
            <a:br/>
            <a:br/>
            <a:r>
              <a:t>• Lab1VerificationTest (8 tests)</a:t>
            </a:r>
            <a:br/>
            <a:r>
              <a:t>• DHOPMEngineTest (10 tests)</a:t>
            </a:r>
            <a:br/>
            <a:r>
              <a:t>• ChartPaperVerificationTest (2 tests)</a:t>
            </a:r>
            <a:br/>
            <a:r>
              <a:t>• BridgeEngineTest (10 tests)</a:t>
            </a:r>
            <a:br/>
            <a:r>
              <a:t>• TsonBridgeIntegrationTest (6 tests)</a:t>
            </a:r>
            <a:br/>
            <a:r>
              <a:t>• TsonToolsServiceTest (4 tests)</a:t>
            </a:r>
            <a:br/>
            <a:r>
              <a:t>• DhopmContractTcpClientTest (9 tests)</a:t>
            </a:r>
            <a:br/>
            <a:r>
              <a:t>• DhopmContractTcpServerTest (3 tests)</a:t>
            </a:r>
            <a:br/>
            <a:r>
              <a:t>• MinSupSweepServiceTest (2 tests)</a:t>
            </a:r>
            <a:br/>
            <a:r>
              <a:t>• MiningProgressInfoTest (3 tests)</a:t>
            </a:r>
            <a:br/>
            <a:r>
              <a:t>• MiningHistoryManagerTest (3 tests)</a:t>
            </a:r>
            <a:br/>
            <a:r>
              <a:t>• CalculationLoggerTest (3 tests)</a:t>
            </a:r>
            <a:br/>
            <a:br/>
            <a:r>
              <a:t>★ Sai số toán học: Δ &lt; 0.0001</a:t>
            </a:r>
          </a:p>
        </p:txBody>
      </p:sp>
      <p:sp>
        <p:nvSpPr>
          <p:cNvPr id="8" name="Rounded Rectangle 7"/>
          <p:cNvSpPr/>
          <p:nvPr/>
        </p:nvSpPr>
        <p:spPr>
          <a:xfrm>
            <a:off x="4937760" y="1280160"/>
            <a:ext cx="649224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0" y="1417320"/>
            <a:ext cx="6126480" cy="365760"/>
          </a:xfrm>
          <a:prstGeom prst="rect">
            <a:avLst/>
          </a:prstGeom>
          <a:noFill/>
        </p:spPr>
        <p:txBody>
          <a:bodyPr wrap="none">
            <a:spAutoFit/>
          </a:bodyPr>
          <a:lstStyle/>
          <a:p>
            <a:pPr>
              <a:defRPr sz="1350" b="1">
                <a:solidFill>
                  <a:srgbClr val="1F4E79"/>
                </a:solidFill>
                <a:latin typeface="Arial"/>
              </a:defRPr>
            </a:pPr>
            <a:r>
              <a:t>🎯 Ma Trận Đối Soát 8 Golden Test Cases</a:t>
            </a:r>
          </a:p>
        </p:txBody>
      </p:sp>
      <p:graphicFrame>
        <p:nvGraphicFramePr>
          <p:cNvPr id="10" name="Table 9"/>
          <p:cNvGraphicFramePr>
            <a:graphicFrameLocks noGrp="1"/>
          </p:cNvGraphicFramePr>
          <p:nvPr/>
        </p:nvGraphicFramePr>
        <p:xfrm>
          <a:off x="5029200" y="1828800"/>
          <a:ext cx="6217920" cy="4206240"/>
        </p:xfrm>
        <a:graphic>
          <a:graphicData uri="http://schemas.openxmlformats.org/drawingml/2006/table">
            <a:tbl>
              <a:tblPr firstRow="1" bandRow="1">
                <a:tableStyleId>{5C22544A-7EE6-4342-B048-85BDC9FD1C3A}</a:tableStyleId>
              </a:tblPr>
              <a:tblGrid>
                <a:gridCol w="1005840"/>
                <a:gridCol w="914400"/>
                <a:gridCol w="1005840"/>
                <a:gridCol w="1920240"/>
                <a:gridCol w="1371600"/>
              </a:tblGrid>
              <a:tr h="467360">
                <a:tc>
                  <a:txBody>
                    <a:bodyPr/>
                    <a:lstStyle/>
                    <a:p>
                      <a:pPr algn="ctr"/>
                      <a:r>
                        <a:rPr b="1" sz="1100">
                          <a:solidFill>
                            <a:srgbClr val="FFFFFF"/>
                          </a:solidFill>
                          <a:latin typeface="Arial"/>
                        </a:rPr>
                        <a:t>Mã TC</a:t>
                      </a:r>
                    </a:p>
                  </a:txBody>
                  <a:tcPr>
                    <a:solidFill>
                      <a:srgbClr val="1F4E79"/>
                    </a:solidFill>
                  </a:tcPr>
                </a:tc>
                <a:tc>
                  <a:txBody>
                    <a:bodyPr/>
                    <a:lstStyle/>
                    <a:p>
                      <a:pPr algn="ctr"/>
                      <a:r>
                        <a:rPr b="1" sz="1100">
                          <a:solidFill>
                            <a:srgbClr val="FFFFFF"/>
                          </a:solidFill>
                          <a:latin typeface="Arial"/>
                        </a:rPr>
                        <a:t>Hệ số f</a:t>
                      </a:r>
                    </a:p>
                  </a:txBody>
                  <a:tcPr>
                    <a:solidFill>
                      <a:srgbClr val="1F4E79"/>
                    </a:solidFill>
                  </a:tcPr>
                </a:tc>
                <a:tc>
                  <a:txBody>
                    <a:bodyPr/>
                    <a:lstStyle/>
                    <a:p>
                      <a:pPr algn="ctr"/>
                      <a:r>
                        <a:rPr b="1" sz="1100">
                          <a:solidFill>
                            <a:srgbClr val="FFFFFF"/>
                          </a:solidFill>
                          <a:latin typeface="Arial"/>
                        </a:rPr>
                        <a:t>Ngưỡng ∂</a:t>
                      </a:r>
                    </a:p>
                  </a:txBody>
                  <a:tcPr>
                    <a:solidFill>
                      <a:srgbClr val="1F4E79"/>
                    </a:solidFill>
                  </a:tcPr>
                </a:tc>
                <a:tc>
                  <a:txBody>
                    <a:bodyPr/>
                    <a:lstStyle/>
                    <a:p>
                      <a:pPr algn="ctr"/>
                      <a:r>
                        <a:rPr b="1" sz="1100">
                          <a:solidFill>
                            <a:srgbClr val="FFFFFF"/>
                          </a:solidFill>
                          <a:latin typeface="Arial"/>
                        </a:rPr>
                        <a:t>Kết Quả Khai Phá</a:t>
                      </a:r>
                    </a:p>
                  </a:txBody>
                  <a:tcPr>
                    <a:solidFill>
                      <a:srgbClr val="1F4E79"/>
                    </a:solidFill>
                  </a:tcPr>
                </a:tc>
                <a:tc>
                  <a:txBody>
                    <a:bodyPr/>
                    <a:lstStyle/>
                    <a:p>
                      <a:pPr algn="ctr"/>
                      <a:r>
                        <a:rPr b="1" sz="1100">
                          <a:solidFill>
                            <a:srgbClr val="FFFFFF"/>
                          </a:solidFill>
                          <a:latin typeface="Arial"/>
                        </a:rPr>
                        <a:t>Trạng Thái</a:t>
                      </a:r>
                    </a:p>
                  </a:txBody>
                  <a:tcPr>
                    <a:solidFill>
                      <a:srgbClr val="1F4E79"/>
                    </a:solidFill>
                  </a:tcPr>
                </a:tc>
              </a:tr>
              <a:tr h="467360">
                <a:tc>
                  <a:txBody>
                    <a:bodyPr/>
                    <a:lstStyle/>
                    <a:p>
                      <a:pPr algn="ctr"/>
                      <a:r>
                        <a:rPr sz="1000">
                          <a:latin typeface="Arial"/>
                        </a:rPr>
                        <a:t>TC1</a:t>
                      </a:r>
                    </a:p>
                  </a:txBody>
                  <a:tcPr/>
                </a:tc>
                <a:tc>
                  <a:txBody>
                    <a:bodyPr/>
                    <a:lstStyle/>
                    <a:p>
                      <a:pPr algn="ctr"/>
                      <a:r>
                        <a:rPr sz="1000">
                          <a:latin typeface="Arial"/>
                        </a:rPr>
                        <a:t>0.90</a:t>
                      </a:r>
                    </a:p>
                  </a:txBody>
                  <a:tcPr/>
                </a:tc>
                <a:tc>
                  <a:txBody>
                    <a:bodyPr/>
                    <a:lstStyle/>
                    <a:p>
                      <a:pPr algn="ctr"/>
                      <a:r>
                        <a:rPr sz="1000">
                          <a:latin typeface="Arial"/>
                        </a:rPr>
                        <a:t>15% (1.2)</a:t>
                      </a:r>
                    </a:p>
                  </a:txBody>
                  <a:tcPr/>
                </a:tc>
                <a:tc>
                  <a:txBody>
                    <a:bodyPr/>
                    <a:lstStyle/>
                    <a:p>
                      <a:pPr algn="ctr"/>
                      <a:r>
                        <a:rPr sz="1000">
                          <a:latin typeface="Arial"/>
                        </a:rPr>
                        <a:t>2 mẫu: {AE}, {F}</a:t>
                      </a:r>
                    </a:p>
                  </a:txBody>
                  <a:tcPr/>
                </a:tc>
                <a:tc>
                  <a:txBody>
                    <a:bodyPr/>
                    <a:lstStyle/>
                    <a:p>
                      <a:pPr algn="ctr"/>
                      <a:r>
                        <a:rPr sz="1000" b="1">
                          <a:solidFill>
                            <a:srgbClr val="0E6251"/>
                          </a:solidFill>
                          <a:latin typeface="Arial"/>
                        </a:rPr>
                        <a:t>✅ PASS 100%</a:t>
                      </a:r>
                    </a:p>
                  </a:txBody>
                  <a:tcPr/>
                </a:tc>
              </a:tr>
              <a:tr h="467360">
                <a:tc>
                  <a:txBody>
                    <a:bodyPr/>
                    <a:lstStyle/>
                    <a:p>
                      <a:pPr algn="ctr"/>
                      <a:r>
                        <a:rPr sz="1000">
                          <a:latin typeface="Arial"/>
                        </a:rPr>
                        <a:t>TC2</a:t>
                      </a:r>
                    </a:p>
                  </a:txBody>
                  <a:tcPr/>
                </a:tc>
                <a:tc>
                  <a:txBody>
                    <a:bodyPr/>
                    <a:lstStyle/>
                    <a:p>
                      <a:pPr algn="ctr"/>
                      <a:r>
                        <a:rPr sz="1000">
                          <a:latin typeface="Arial"/>
                        </a:rPr>
                        <a:t>0.90</a:t>
                      </a:r>
                    </a:p>
                  </a:txBody>
                  <a:tcPr/>
                </a:tc>
                <a:tc>
                  <a:txBody>
                    <a:bodyPr/>
                    <a:lstStyle/>
                    <a:p>
                      <a:pPr algn="ctr"/>
                      <a:r>
                        <a:rPr sz="1000">
                          <a:latin typeface="Arial"/>
                        </a:rPr>
                        <a:t>20% (1.6)</a:t>
                      </a:r>
                    </a:p>
                  </a:txBody>
                  <a:tcPr/>
                </a:tc>
                <a:tc>
                  <a:txBody>
                    <a:bodyPr/>
                    <a:lstStyle/>
                    <a:p>
                      <a:pPr algn="ctr"/>
                      <a:r>
                        <a:rPr sz="1000">
                          <a:latin typeface="Arial"/>
                        </a:rPr>
                        <a:t>0 mẫu (Rỗng)</a:t>
                      </a:r>
                    </a:p>
                  </a:txBody>
                  <a:tcPr/>
                </a:tc>
                <a:tc>
                  <a:txBody>
                    <a:bodyPr/>
                    <a:lstStyle/>
                    <a:p>
                      <a:pPr algn="ctr"/>
                      <a:r>
                        <a:rPr sz="1000" b="1">
                          <a:solidFill>
                            <a:srgbClr val="0E6251"/>
                          </a:solidFill>
                          <a:latin typeface="Arial"/>
                        </a:rPr>
                        <a:t>✅ PASS 100%</a:t>
                      </a:r>
                    </a:p>
                  </a:txBody>
                  <a:tcPr/>
                </a:tc>
              </a:tr>
              <a:tr h="467360">
                <a:tc>
                  <a:txBody>
                    <a:bodyPr/>
                    <a:lstStyle/>
                    <a:p>
                      <a:pPr algn="ctr"/>
                      <a:r>
                        <a:rPr sz="1000">
                          <a:latin typeface="Arial"/>
                        </a:rPr>
                        <a:t>TC3</a:t>
                      </a:r>
                    </a:p>
                  </a:txBody>
                  <a:tcPr/>
                </a:tc>
                <a:tc>
                  <a:txBody>
                    <a:bodyPr/>
                    <a:lstStyle/>
                    <a:p>
                      <a:pPr algn="ctr"/>
                      <a:r>
                        <a:rPr sz="1000">
                          <a:latin typeface="Arial"/>
                        </a:rPr>
                        <a:t>0.90</a:t>
                      </a:r>
                    </a:p>
                  </a:txBody>
                  <a:tcPr/>
                </a:tc>
                <a:tc>
                  <a:txBody>
                    <a:bodyPr/>
                    <a:lstStyle/>
                    <a:p>
                      <a:pPr algn="ctr"/>
                      <a:r>
                        <a:rPr sz="1000">
                          <a:latin typeface="Arial"/>
                        </a:rPr>
                        <a:t>10% (0.8)</a:t>
                      </a:r>
                    </a:p>
                  </a:txBody>
                  <a:tcPr/>
                </a:tc>
                <a:tc>
                  <a:txBody>
                    <a:bodyPr/>
                    <a:lstStyle/>
                    <a:p>
                      <a:pPr algn="ctr"/>
                      <a:r>
                        <a:rPr sz="1000">
                          <a:latin typeface="Arial"/>
                        </a:rPr>
                        <a:t>6 mẫu: {AE, F, BE...}</a:t>
                      </a:r>
                    </a:p>
                  </a:txBody>
                  <a:tcPr/>
                </a:tc>
                <a:tc>
                  <a:txBody>
                    <a:bodyPr/>
                    <a:lstStyle/>
                    <a:p>
                      <a:pPr algn="ctr"/>
                      <a:r>
                        <a:rPr sz="1000" b="1">
                          <a:solidFill>
                            <a:srgbClr val="0E6251"/>
                          </a:solidFill>
                          <a:latin typeface="Arial"/>
                        </a:rPr>
                        <a:t>✅ PASS 100%</a:t>
                      </a:r>
                    </a:p>
                  </a:txBody>
                  <a:tcPr/>
                </a:tc>
              </a:tr>
              <a:tr h="467360">
                <a:tc>
                  <a:txBody>
                    <a:bodyPr/>
                    <a:lstStyle/>
                    <a:p>
                      <a:pPr algn="ctr"/>
                      <a:r>
                        <a:rPr sz="1000">
                          <a:latin typeface="Arial"/>
                        </a:rPr>
                        <a:t>TC4</a:t>
                      </a:r>
                    </a:p>
                  </a:txBody>
                  <a:tcPr/>
                </a:tc>
                <a:tc>
                  <a:txBody>
                    <a:bodyPr/>
                    <a:lstStyle/>
                    <a:p>
                      <a:pPr algn="ctr"/>
                      <a:r>
                        <a:rPr sz="1000">
                          <a:latin typeface="Arial"/>
                        </a:rPr>
                        <a:t>0.95</a:t>
                      </a:r>
                    </a:p>
                  </a:txBody>
                  <a:tcPr/>
                </a:tc>
                <a:tc>
                  <a:txBody>
                    <a:bodyPr/>
                    <a:lstStyle/>
                    <a:p>
                      <a:pPr algn="ctr"/>
                      <a:r>
                        <a:rPr sz="1000">
                          <a:latin typeface="Arial"/>
                        </a:rPr>
                        <a:t>15% (1.2)</a:t>
                      </a:r>
                    </a:p>
                  </a:txBody>
                  <a:tcPr/>
                </a:tc>
                <a:tc>
                  <a:txBody>
                    <a:bodyPr/>
                    <a:lstStyle/>
                    <a:p>
                      <a:pPr algn="ctr"/>
                      <a:r>
                        <a:rPr sz="1000">
                          <a:latin typeface="Arial"/>
                        </a:rPr>
                        <a:t>4 mẫu</a:t>
                      </a:r>
                    </a:p>
                  </a:txBody>
                  <a:tcPr/>
                </a:tc>
                <a:tc>
                  <a:txBody>
                    <a:bodyPr/>
                    <a:lstStyle/>
                    <a:p>
                      <a:pPr algn="ctr"/>
                      <a:r>
                        <a:rPr sz="1000" b="1">
                          <a:solidFill>
                            <a:srgbClr val="0E6251"/>
                          </a:solidFill>
                          <a:latin typeface="Arial"/>
                        </a:rPr>
                        <a:t>✅ PASS 100%</a:t>
                      </a:r>
                    </a:p>
                  </a:txBody>
                  <a:tcPr/>
                </a:tc>
              </a:tr>
              <a:tr h="467360">
                <a:tc>
                  <a:txBody>
                    <a:bodyPr/>
                    <a:lstStyle/>
                    <a:p>
                      <a:pPr algn="ctr"/>
                      <a:r>
                        <a:rPr sz="1000">
                          <a:latin typeface="Arial"/>
                        </a:rPr>
                        <a:t>TC5</a:t>
                      </a:r>
                    </a:p>
                  </a:txBody>
                  <a:tcPr/>
                </a:tc>
                <a:tc>
                  <a:txBody>
                    <a:bodyPr/>
                    <a:lstStyle/>
                    <a:p>
                      <a:pPr algn="ctr"/>
                      <a:r>
                        <a:rPr sz="1000">
                          <a:latin typeface="Arial"/>
                        </a:rPr>
                        <a:t>1.00</a:t>
                      </a:r>
                    </a:p>
                  </a:txBody>
                  <a:tcPr/>
                </a:tc>
                <a:tc>
                  <a:txBody>
                    <a:bodyPr/>
                    <a:lstStyle/>
                    <a:p>
                      <a:pPr algn="ctr"/>
                      <a:r>
                        <a:rPr sz="1000">
                          <a:latin typeface="Arial"/>
                        </a:rPr>
                        <a:t>15% (1.2)</a:t>
                      </a:r>
                    </a:p>
                  </a:txBody>
                  <a:tcPr/>
                </a:tc>
                <a:tc>
                  <a:txBody>
                    <a:bodyPr/>
                    <a:lstStyle/>
                    <a:p>
                      <a:pPr algn="ctr"/>
                      <a:r>
                        <a:rPr sz="1000">
                          <a:latin typeface="Arial"/>
                        </a:rPr>
                        <a:t>9 mẫu: {AE, F, CD...}</a:t>
                      </a:r>
                    </a:p>
                  </a:txBody>
                  <a:tcPr/>
                </a:tc>
                <a:tc>
                  <a:txBody>
                    <a:bodyPr/>
                    <a:lstStyle/>
                    <a:p>
                      <a:pPr algn="ctr"/>
                      <a:r>
                        <a:rPr sz="1000" b="1">
                          <a:solidFill>
                            <a:srgbClr val="0E6251"/>
                          </a:solidFill>
                          <a:latin typeface="Arial"/>
                        </a:rPr>
                        <a:t>✅ PASS 100%</a:t>
                      </a:r>
                    </a:p>
                  </a:txBody>
                  <a:tcPr/>
                </a:tc>
              </a:tr>
              <a:tr h="467360">
                <a:tc>
                  <a:txBody>
                    <a:bodyPr/>
                    <a:lstStyle/>
                    <a:p>
                      <a:pPr algn="ctr"/>
                      <a:r>
                        <a:rPr sz="1000">
                          <a:latin typeface="Arial"/>
                        </a:rPr>
                        <a:t>TC6</a:t>
                      </a:r>
                    </a:p>
                  </a:txBody>
                  <a:tcPr/>
                </a:tc>
                <a:tc>
                  <a:txBody>
                    <a:bodyPr/>
                    <a:lstStyle/>
                    <a:p>
                      <a:pPr algn="ctr"/>
                      <a:r>
                        <a:rPr sz="1000">
                          <a:latin typeface="Arial"/>
                        </a:rPr>
                        <a:t>1.00</a:t>
                      </a:r>
                    </a:p>
                  </a:txBody>
                  <a:tcPr/>
                </a:tc>
                <a:tc>
                  <a:txBody>
                    <a:bodyPr/>
                    <a:lstStyle/>
                    <a:p>
                      <a:pPr algn="ctr"/>
                      <a:r>
                        <a:rPr sz="1000">
                          <a:latin typeface="Arial"/>
                        </a:rPr>
                        <a:t>20% (1.6)</a:t>
                      </a:r>
                    </a:p>
                  </a:txBody>
                  <a:tcPr/>
                </a:tc>
                <a:tc>
                  <a:txBody>
                    <a:bodyPr/>
                    <a:lstStyle/>
                    <a:p>
                      <a:pPr algn="ctr"/>
                      <a:r>
                        <a:rPr sz="1000">
                          <a:latin typeface="Arial"/>
                        </a:rPr>
                        <a:t>4 mẫu: {AE, F, CD, DE}</a:t>
                      </a:r>
                    </a:p>
                  </a:txBody>
                  <a:tcPr/>
                </a:tc>
                <a:tc>
                  <a:txBody>
                    <a:bodyPr/>
                    <a:lstStyle/>
                    <a:p>
                      <a:pPr algn="ctr"/>
                      <a:r>
                        <a:rPr sz="1000" b="1">
                          <a:solidFill>
                            <a:srgbClr val="0E6251"/>
                          </a:solidFill>
                          <a:latin typeface="Arial"/>
                        </a:rPr>
                        <a:t>✅ PASS 100%</a:t>
                      </a:r>
                    </a:p>
                  </a:txBody>
                  <a:tcPr/>
                </a:tc>
              </a:tr>
              <a:tr h="467360">
                <a:tc>
                  <a:txBody>
                    <a:bodyPr/>
                    <a:lstStyle/>
                    <a:p>
                      <a:pPr algn="ctr"/>
                      <a:r>
                        <a:rPr sz="1000">
                          <a:latin typeface="Arial"/>
                        </a:rPr>
                        <a:t>TC7</a:t>
                      </a:r>
                    </a:p>
                  </a:txBody>
                  <a:tcPr/>
                </a:tc>
                <a:tc>
                  <a:txBody>
                    <a:bodyPr/>
                    <a:lstStyle/>
                    <a:p>
                      <a:pPr algn="ctr"/>
                      <a:r>
                        <a:rPr sz="1000">
                          <a:latin typeface="Arial"/>
                        </a:rPr>
                        <a:t>0.80</a:t>
                      </a:r>
                    </a:p>
                  </a:txBody>
                  <a:tcPr/>
                </a:tc>
                <a:tc>
                  <a:txBody>
                    <a:bodyPr/>
                    <a:lstStyle/>
                    <a:p>
                      <a:pPr algn="ctr"/>
                      <a:r>
                        <a:rPr sz="1000">
                          <a:latin typeface="Arial"/>
                        </a:rPr>
                        <a:t>15% (1.2)</a:t>
                      </a:r>
                    </a:p>
                  </a:txBody>
                  <a:tcPr/>
                </a:tc>
                <a:tc>
                  <a:txBody>
                    <a:bodyPr/>
                    <a:lstStyle/>
                    <a:p>
                      <a:pPr algn="ctr"/>
                      <a:r>
                        <a:rPr sz="1000">
                          <a:latin typeface="Arial"/>
                        </a:rPr>
                        <a:t>1 mẫu: {AE}</a:t>
                      </a:r>
                    </a:p>
                  </a:txBody>
                  <a:tcPr/>
                </a:tc>
                <a:tc>
                  <a:txBody>
                    <a:bodyPr/>
                    <a:lstStyle/>
                    <a:p>
                      <a:pPr algn="ctr"/>
                      <a:r>
                        <a:rPr sz="1000" b="1">
                          <a:solidFill>
                            <a:srgbClr val="0E6251"/>
                          </a:solidFill>
                          <a:latin typeface="Arial"/>
                        </a:rPr>
                        <a:t>✅ PASS 100%</a:t>
                      </a:r>
                    </a:p>
                  </a:txBody>
                  <a:tcPr/>
                </a:tc>
              </a:tr>
              <a:tr h="467360">
                <a:tc>
                  <a:txBody>
                    <a:bodyPr/>
                    <a:lstStyle/>
                    <a:p>
                      <a:pPr algn="ctr"/>
                      <a:r>
                        <a:rPr sz="1000">
                          <a:latin typeface="Arial"/>
                        </a:rPr>
                        <a:t>TC8</a:t>
                      </a:r>
                    </a:p>
                  </a:txBody>
                  <a:tcPr/>
                </a:tc>
                <a:tc>
                  <a:txBody>
                    <a:bodyPr/>
                    <a:lstStyle/>
                    <a:p>
                      <a:pPr algn="ctr"/>
                      <a:r>
                        <a:rPr sz="1000">
                          <a:latin typeface="Arial"/>
                        </a:rPr>
                        <a:t>0.85</a:t>
                      </a:r>
                    </a:p>
                  </a:txBody>
                  <a:tcPr/>
                </a:tc>
                <a:tc>
                  <a:txBody>
                    <a:bodyPr/>
                    <a:lstStyle/>
                    <a:p>
                      <a:pPr algn="ctr"/>
                      <a:r>
                        <a:rPr sz="1000">
                          <a:latin typeface="Arial"/>
                        </a:rPr>
                        <a:t>15% (1.2)</a:t>
                      </a:r>
                    </a:p>
                  </a:txBody>
                  <a:tcPr/>
                </a:tc>
                <a:tc>
                  <a:txBody>
                    <a:bodyPr/>
                    <a:lstStyle/>
                    <a:p>
                      <a:pPr algn="ctr"/>
                      <a:r>
                        <a:rPr sz="1000">
                          <a:latin typeface="Arial"/>
                        </a:rPr>
                        <a:t>2 mẫu: {AE}, {F}</a:t>
                      </a:r>
                    </a:p>
                  </a:txBody>
                  <a:tcPr/>
                </a:tc>
                <a:tc>
                  <a:txBody>
                    <a:bodyPr/>
                    <a:lstStyle/>
                    <a:p>
                      <a:pPr algn="ctr"/>
                      <a:r>
                        <a:rPr sz="1000" b="1">
                          <a:solidFill>
                            <a:srgbClr val="0E6251"/>
                          </a:solidFill>
                          <a:latin typeface="Arial"/>
                        </a:rPr>
                        <a:t>✅ PASS 100%</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000" b="1">
                <a:solidFill>
                  <a:srgbClr val="A9DFBF"/>
                </a:solidFill>
                <a:latin typeface="Arial"/>
              </a:defRPr>
            </a:pPr>
            <a:r>
              <a:t>LẬP TRÌNH JAVA NÂNG CAO | ĐỒ ÁN MÔN HỌC</a:t>
            </a:r>
          </a:p>
        </p:txBody>
      </p:sp>
      <p:sp>
        <p:nvSpPr>
          <p:cNvPr id="4" name="TextBox 3"/>
          <p:cNvSpPr txBox="1"/>
          <p:nvPr/>
        </p:nvSpPr>
        <p:spPr>
          <a:xfrm>
            <a:off x="731520" y="365760"/>
            <a:ext cx="10515600" cy="548640"/>
          </a:xfrm>
          <a:prstGeom prst="rect">
            <a:avLst/>
          </a:prstGeom>
          <a:noFill/>
        </p:spPr>
        <p:txBody>
          <a:bodyPr wrap="none">
            <a:spAutoFit/>
          </a:bodyPr>
          <a:lstStyle/>
          <a:p>
            <a:pPr>
              <a:defRPr sz="2200" b="1">
                <a:solidFill>
                  <a:srgbClr val="FFFFFF"/>
                </a:solidFill>
                <a:latin typeface="Arial"/>
              </a:defRPr>
            </a:pPr>
            <a:r>
              <a:t>14. Kết Luận &amp; Hướng Phát Triển Tiếp Theo</a:t>
            </a:r>
          </a:p>
        </p:txBody>
      </p:sp>
      <p:sp>
        <p:nvSpPr>
          <p:cNvPr id="5" name="Rounded Rectangle 4"/>
          <p:cNvSpPr/>
          <p:nvPr/>
        </p:nvSpPr>
        <p:spPr>
          <a:xfrm>
            <a:off x="731520" y="1280160"/>
            <a:ext cx="5120640" cy="502920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754880" cy="365760"/>
          </a:xfrm>
          <a:prstGeom prst="rect">
            <a:avLst/>
          </a:prstGeom>
          <a:noFill/>
        </p:spPr>
        <p:txBody>
          <a:bodyPr wrap="none">
            <a:spAutoFit/>
          </a:bodyPr>
          <a:lstStyle/>
          <a:p>
            <a:pPr>
              <a:defRPr sz="1350" b="1">
                <a:solidFill>
                  <a:srgbClr val="1F4E79"/>
                </a:solidFill>
                <a:latin typeface="Arial"/>
              </a:defRPr>
            </a:pPr>
            <a:r>
              <a:t>🏆 Kết Quả Đạt Được</a:t>
            </a:r>
          </a:p>
        </p:txBody>
      </p:sp>
      <p:sp>
        <p:nvSpPr>
          <p:cNvPr id="7" name="TextBox 6"/>
          <p:cNvSpPr txBox="1"/>
          <p:nvPr/>
        </p:nvSpPr>
        <p:spPr>
          <a:xfrm>
            <a:off x="914400" y="1828800"/>
            <a:ext cx="4754880" cy="4206240"/>
          </a:xfrm>
          <a:prstGeom prst="rect">
            <a:avLst/>
          </a:prstGeom>
          <a:noFill/>
        </p:spPr>
        <p:txBody>
          <a:bodyPr wrap="square">
            <a:spAutoFit/>
          </a:bodyPr>
          <a:lstStyle/>
          <a:p>
            <a:pPr>
              <a:defRPr sz="1200"/>
            </a:pPr>
            <a:r>
              <a:t>• Hoàn thành 100% mục tiêu đề ra:</a:t>
            </a:r>
            <a:br/>
            <a:r>
              <a:t>  Làm chủ lý thuyết bài báo quốc tế EAAI 2026 và cài đặt chính xác tuyệt đối.</a:t>
            </a:r>
            <a:br/>
            <a:br/>
            <a:r>
              <a:t>• Kiến trúc chuẩn công nghiệp:</a:t>
            </a:r>
            <a:br/>
            <a:r>
              <a:t>  Áp dụng hoàn hảo 9 Design Patterns, phân tầng sạch Monorepo và nguyên lý DIP.</a:t>
            </a:r>
            <a:br/>
            <a:br/>
            <a:r>
              <a:t>• Giao diện JavaFX hiện đại không slider:</a:t>
            </a:r>
            <a:br/>
            <a:r>
              <a:t>  Loại bỏ hoàn toàn console và slider, sử dụng 100% TableView native và ô nhập chuẩn xác.</a:t>
            </a:r>
            <a:br/>
            <a:br/>
            <a:r>
              <a:t>• Kiểm thử tự động tin cậy:</a:t>
            </a:r>
            <a:br/>
            <a:r>
              <a:t>  63/63 unit tests vượt qua, xác thực thành công ma trận Golden Tests và biểu đồ Fig 2, 6, 11, 13.</a:t>
            </a:r>
          </a:p>
        </p:txBody>
      </p:sp>
      <p:sp>
        <p:nvSpPr>
          <p:cNvPr id="8" name="Rounded Rectangle 7"/>
          <p:cNvSpPr/>
          <p:nvPr/>
        </p:nvSpPr>
        <p:spPr>
          <a:xfrm>
            <a:off x="6217920" y="1280160"/>
            <a:ext cx="5212080" cy="5029200"/>
          </a:xfrm>
          <a:prstGeom prst="round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4846320" cy="365760"/>
          </a:xfrm>
          <a:prstGeom prst="rect">
            <a:avLst/>
          </a:prstGeom>
          <a:noFill/>
        </p:spPr>
        <p:txBody>
          <a:bodyPr wrap="none">
            <a:spAutoFit/>
          </a:bodyPr>
          <a:lstStyle/>
          <a:p>
            <a:pPr>
              <a:defRPr sz="1350" b="1">
                <a:solidFill>
                  <a:srgbClr val="1F4E79"/>
                </a:solidFill>
                <a:latin typeface="Arial"/>
              </a:defRPr>
            </a:pPr>
            <a:r>
              <a:t>🚀 Hướng Phát Triển Tiếp Theo</a:t>
            </a:r>
          </a:p>
        </p:txBody>
      </p:sp>
      <p:sp>
        <p:nvSpPr>
          <p:cNvPr id="10" name="TextBox 9"/>
          <p:cNvSpPr txBox="1"/>
          <p:nvPr/>
        </p:nvSpPr>
        <p:spPr>
          <a:xfrm>
            <a:off x="6400800" y="1828800"/>
            <a:ext cx="4846320" cy="4206240"/>
          </a:xfrm>
          <a:prstGeom prst="rect">
            <a:avLst/>
          </a:prstGeom>
          <a:noFill/>
        </p:spPr>
        <p:txBody>
          <a:bodyPr wrap="square">
            <a:spAutoFit/>
          </a:bodyPr>
          <a:lstStyle/>
          <a:p>
            <a:pPr>
              <a:defRPr sz="1200"/>
            </a:pPr>
            <a:r>
              <a:t>• Tối ưu hóa BitSet DFS (V2 Engine):</a:t>
            </a:r>
            <a:br/>
            <a:r>
              <a:t>  Ứng dụng mảng bit và phép toán AND phần cứng để tăng tốc độ giao cắt giao dịch lên gấp 10 lần.</a:t>
            </a:r>
            <a:br/>
            <a:br/>
            <a:r>
              <a:t>• Tích hợp Apache Kafka:</a:t>
            </a:r>
            <a:br/>
            <a:r>
              <a:t>  Đóng gói thành microservice nhận luồng giao dịch trực tiếp từ các sàn thương mại điện tử lớn.</a:t>
            </a:r>
            <a:br/>
            <a:br/>
            <a:r>
              <a:t>• Xử lý phân tán Apache Flink / Spark:</a:t>
            </a:r>
            <a:br/>
            <a:r>
              <a:t>  Triển khai cụm tính toán phân tán để mở rộng quy mô xử lý hàng triệu giao dịch mỗi giây.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200400"/>
          </a:xfrm>
          <a:prstGeom prst="rect">
            <a:avLst/>
          </a:prstGeom>
          <a:noFill/>
        </p:spPr>
        <p:txBody>
          <a:bodyPr wrap="none">
            <a:spAutoFit/>
          </a:bodyPr>
          <a:lstStyle/>
          <a:p>
            <a:pPr algn="ctr">
              <a:defRPr sz="3600" b="1">
                <a:solidFill>
                  <a:srgbClr val="FFFFFF"/>
                </a:solidFill>
                <a:latin typeface="Arial"/>
              </a:defRPr>
            </a:pPr>
            <a:r>
              <a:t>XIN CHÂN THÀNH CẢM ƠN QUÝ THẦY CÔ VÀ CÁC BẠN!</a:t>
            </a:r>
          </a:p>
          <a:p>
            <a:pPr algn="ctr">
              <a:defRPr sz="1900">
                <a:solidFill>
                  <a:srgbClr val="85C1E9"/>
                </a:solidFill>
                <a:latin typeface="Arial"/>
              </a:defRPr>
            </a:pPr>
            <a:r>
              <a:t>Em xin kính mời Quý Thầy Cô đặt câu hỏi phản biện và theo dõi phần Demo trực tiếp phần mềm!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